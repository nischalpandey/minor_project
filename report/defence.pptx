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6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65" r:id="rId13"/>
    <p:sldId id="266" r:id="rId14"/>
    <p:sldId id="267" r:id="rId15"/>
    <p:sldId id="271" r:id="rId16"/>
    <p:sldId id="268" r:id="rId17"/>
    <p:sldId id="269" r:id="rId18"/>
    <p:sldId id="270" r:id="rId19"/>
  </p:sldIdLst>
  <p:sldSz cx="9144000" cy="5143500" type="screen16x9"/>
  <p:notesSz cx="6858000" cy="9144000"/>
  <p:embeddedFontLs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Trebuchet MS" panose="020B0703020202090204" pitchFamily="34" charset="0"/>
      <p:regular r:id="rId25"/>
      <p:bold r:id="rId26"/>
      <p:italic r:id="rId27"/>
      <p:boldItalic r:id="rId28"/>
    </p:embeddedFont>
  </p:embeddedFontLst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/>
    <p:restoredTop sz="94631"/>
  </p:normalViewPr>
  <p:slideViewPr>
    <p:cSldViewPr snapToGrid="0">
      <p:cViewPr>
        <p:scale>
          <a:sx n="192" d="100"/>
          <a:sy n="192" d="100"/>
        </p:scale>
        <p:origin x="-1160" y="-2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87997393_0_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f87997393_0_7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f87997393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f87997393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f87997393_0_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f87997393_0_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f87997393_0_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f87997393_0_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f87997393_0_8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f87997393_0_8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f87997393_0_8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f87997393_0_8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f96f5393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f96f5393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f87997393_0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f87997393_0_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f87997393_0_10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f87997393_0_10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f87997393_0_1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f87997393_0_1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f87997393_0_1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f87997393_0_1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f87997393_0_1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f87997393_0_1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f87997393_0_1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f87997393_0_1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f87997393_0_1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f87997393_0_1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023A-82D3-4A91-2C95-78754D071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A33DC-A82B-F45A-2DCB-C6A52DCE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1CC19-F15D-4C8C-9439-0B342D5CA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F632-83C1-AD2B-4F0F-95E77780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88C33-075F-0D1D-65A2-B6B2DB72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2725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9FA4D-2188-5FAF-7CF3-CEFC982D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AA27B-D9FE-443E-764D-A5EA4E3B8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13184-2A8F-255B-4222-53EE3C4D9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B4E5B-2B29-574E-0C05-0C0FE4E12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33E12-7BA1-E097-9779-75BA8BC1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3946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46B4-35ED-844C-E56F-81BB8864C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2A0D3-6F3D-D850-915A-3CE9BA726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FF7C7-3C6C-42C6-C71C-1144255E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FF704-400C-F64A-5CD6-A47C2C69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FEAEB-D24A-FC19-DF31-00B099D8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4445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33E9F-D004-D884-57DE-1F34AE2CC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64709-2524-9E9E-F3FC-BC36E2232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D997D-EFFA-588A-C6CB-C89F340AB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F6947-D393-2813-0ED1-CF81ABE5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9546F-CDF6-1DF5-7755-44C7179F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BFAB2-2939-1A28-65A0-A6B88C50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1204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8F2D-274E-A2BE-2982-A8ADD438B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66B2B-EA64-F80C-F48E-0C5F2D3DD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91A38-2DB0-999A-FE22-2BE9F87B3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99D6C-E222-F037-4C24-5AB5BE562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AA86BB-61BF-40F9-6C47-BF81C7A25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40CC2C-1B01-01B6-8388-435DCCEAF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8D713E-308F-8257-A8C1-F9496D9DA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DE33A5-7A93-2A78-121A-DC817EAC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2538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0CC5-8465-DF5A-3B5A-DF2AA2267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A71D1-76FB-3D1A-0DAD-94D9A3F28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614CC3-678B-5E58-C0B5-5C82A50A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D4FD99-FBB8-016C-F34D-6649E2B8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5463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5D0398-FB4E-1C3E-5FEE-4F329E981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5A13C0-DD09-B51D-AC8F-04B8C5CF2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93749-8A5E-62F1-9560-8110BBB52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735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5EF5-AEF0-1700-D63F-FF3C6D34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EA7AD-0F9E-2E27-DED3-F1DD9DEC1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0A669-AC23-0113-9FD3-9BCB481C4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16C36-0CA3-7650-8D29-2B851B5EE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31646-7C90-8D6A-617C-30B4F4B06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43A5D-C0DE-D005-444B-726DCAF7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59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F8175-50CC-E46B-5173-9556F85B6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48481-ACA6-A347-27B9-3792F51B2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FA5AE-3464-427D-C1C4-A7089A3A1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E201B-FA26-0466-A81A-C4496B53A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AAD00-0D48-FFBC-C84F-E9F489EEF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693E2-7636-7FCC-1F32-84AEBDB18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917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791E5-8BBA-9D39-F5A3-28088B19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0F893-886A-EC56-D922-6905B8457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E1A2B-2C50-998E-9558-3A45AF1C5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DA813-1395-42D7-8634-5F8C728EE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39070-9810-D81E-C83C-67B15DEF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6270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4A9597-6A7F-70EF-6ED7-97D9EFAEA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E24B7-2B32-A920-C1C2-9E0811694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8F444-4140-058A-E099-2554F42D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53326-FAFC-C527-49E1-C77D3D9D2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33043-12FB-B3A3-2625-EA38A2B79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5877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">
  <p:cSld name="TOC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2751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2560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3">
  <p:cSld name="Title and body_alt3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body" idx="1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5625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944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0" name="Google Shape;170;p12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758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1">
  <p:cSld name="Title and body_alt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6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01521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2">
  <p:cSld name="Title and body_alt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9" name="Google Shape;99;p7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22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69BBA5-6C06-3AE9-9C19-7444D3DF2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21F3F-A944-0B12-F7FD-712011929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2BCFE-420B-8840-8416-3904D1812C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F3CD8-488D-D98D-0BC4-14E783DB6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51551-0652-97C7-65BF-522D17FA0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49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>
            <a:spLocks noGrp="1"/>
          </p:cNvSpPr>
          <p:nvPr>
            <p:ph type="ctrTitle"/>
          </p:nvPr>
        </p:nvSpPr>
        <p:spPr>
          <a:xfrm>
            <a:off x="990450" y="1174223"/>
            <a:ext cx="7163100" cy="10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600" b="1" dirty="0">
                <a:latin typeface=""/>
                <a:cs typeface="Times New Roman" panose="02020603050405020304" pitchFamily="18" charset="0"/>
              </a:rPr>
              <a:t>TRIBHUVAN UNIVERSITY ​</a:t>
            </a:r>
            <a:br>
              <a:rPr lang="en-US" sz="1600" dirty="0">
                <a:latin typeface=""/>
                <a:cs typeface="Times New Roman" panose="02020603050405020304" pitchFamily="18" charset="0"/>
              </a:rPr>
            </a:br>
            <a:r>
              <a:rPr lang="en-US" sz="1600" b="1" dirty="0">
                <a:latin typeface=""/>
                <a:cs typeface="Times New Roman" panose="02020603050405020304" pitchFamily="18" charset="0"/>
              </a:rPr>
              <a:t>INSTITUTE OF ENGINEERING </a:t>
            </a:r>
            <a:br>
              <a:rPr lang="en-US" sz="1600" dirty="0">
                <a:latin typeface=""/>
                <a:cs typeface="Times New Roman" panose="02020603050405020304" pitchFamily="18" charset="0"/>
              </a:rPr>
            </a:br>
            <a:r>
              <a:rPr lang="en-US" sz="1600" b="1" dirty="0">
                <a:latin typeface=""/>
                <a:cs typeface="Times New Roman" panose="02020603050405020304" pitchFamily="18" charset="0"/>
              </a:rPr>
              <a:t>KATHMANDU ENGINEERING COLLEGE </a:t>
            </a:r>
            <a:br>
              <a:rPr lang="en-US" sz="1600" dirty="0">
                <a:latin typeface=""/>
                <a:cs typeface="Times New Roman" panose="02020603050405020304" pitchFamily="18" charset="0"/>
              </a:rPr>
            </a:br>
            <a:r>
              <a:rPr lang="en-US" sz="1600" b="1" dirty="0">
                <a:latin typeface=""/>
                <a:cs typeface="Times New Roman" panose="02020603050405020304" pitchFamily="18" charset="0"/>
              </a:rPr>
              <a:t>KALIMATI, KATHMANDU</a:t>
            </a:r>
            <a:br>
              <a:rPr lang="en-US" sz="1600" b="1" dirty="0">
                <a:latin typeface=""/>
                <a:cs typeface="Times New Roman" panose="02020603050405020304" pitchFamily="18" charset="0"/>
              </a:rPr>
            </a:b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800" dirty="0"/>
          </a:p>
        </p:txBody>
      </p:sp>
      <p:sp>
        <p:nvSpPr>
          <p:cNvPr id="229" name="Google Shape;229;p17"/>
          <p:cNvSpPr txBox="1"/>
          <p:nvPr/>
        </p:nvSpPr>
        <p:spPr>
          <a:xfrm>
            <a:off x="2032950" y="2295821"/>
            <a:ext cx="5078100" cy="906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400" dirty="0">
                <a:latin typeface=""/>
                <a:cs typeface="Times New Roman" panose="02020603050405020304" pitchFamily="18" charset="0"/>
              </a:rPr>
              <a:t>Minor Project on </a:t>
            </a:r>
          </a:p>
          <a:p>
            <a:pPr algn="ctr">
              <a:lnSpc>
                <a:spcPct val="115000"/>
              </a:lnSpc>
            </a:pPr>
            <a:endParaRPr lang="en-GB" sz="1000" b="1" dirty="0">
              <a:latin typeface="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 err="1">
                <a:latin typeface=""/>
              </a:rPr>
              <a:t>SurakshyaCam</a:t>
            </a:r>
            <a:r>
              <a:rPr lang="en-GB" sz="1400" b="1" dirty="0">
                <a:latin typeface=""/>
              </a:rPr>
              <a:t>: AI-Based Smart Security Surveillance System</a:t>
            </a:r>
            <a:endParaRPr sz="1400" b="1" dirty="0">
              <a:latin typeface=""/>
            </a:endParaRPr>
          </a:p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307390" y="3448893"/>
            <a:ext cx="2656800" cy="19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latin typeface="Lato"/>
                <a:ea typeface="Lato"/>
                <a:cs typeface="Lato"/>
                <a:sym typeface="Lato"/>
              </a:rPr>
              <a:t>PRESENTED BY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800" b="1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/>
              <a:t>Anubhav Kunwar [KAT080BEI002]</a:t>
            </a:r>
            <a:endParaRPr lang="en-US" sz="12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Nischal Pandey [KAT080BEI018]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/>
              <a:t>Srijan Regmi [KAT080BEI039]</a:t>
            </a:r>
            <a:endParaRPr lang="en-US" sz="12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Unik Poudel [KAT080BEI045]</a:t>
            </a:r>
          </a:p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6860510" y="3430154"/>
            <a:ext cx="1976100" cy="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latin typeface="Lato"/>
                <a:ea typeface="Lato"/>
                <a:cs typeface="Lato"/>
                <a:sym typeface="Lato"/>
              </a:rPr>
              <a:t>SUPERVISOR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Lato"/>
                <a:ea typeface="Lato"/>
                <a:cs typeface="Lato"/>
                <a:sym typeface="Lato"/>
              </a:rPr>
              <a:t>Sujan Shrestha</a:t>
            </a:r>
            <a:endParaRPr sz="1200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6FD7FA-F740-71B8-C21C-CE2FA6690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317" y="91744"/>
            <a:ext cx="939366" cy="9375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>
            <a:spLocks noGrp="1"/>
          </p:cNvSpPr>
          <p:nvPr>
            <p:ph type="title"/>
          </p:nvPr>
        </p:nvSpPr>
        <p:spPr>
          <a:xfrm>
            <a:off x="975500" y="629213"/>
            <a:ext cx="7038900" cy="4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"/>
              </a:rPr>
              <a:t>Agenda</a:t>
            </a:r>
            <a:endParaRPr dirty="0">
              <a:latin typeface="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975500" y="2973300"/>
            <a:ext cx="3018300" cy="21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975500" y="1245300"/>
            <a:ext cx="2609100" cy="288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latin typeface="Lato"/>
                <a:ea typeface="Lato"/>
                <a:cs typeface="Lato"/>
                <a:sym typeface="Lato"/>
              </a:rPr>
              <a:t>Introduction</a:t>
            </a:r>
            <a:endParaRPr sz="1400" dirty="0"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latin typeface="Lato"/>
                <a:ea typeface="Lato"/>
                <a:cs typeface="Lato"/>
                <a:sym typeface="Lato"/>
              </a:rPr>
              <a:t>Background Theory</a:t>
            </a:r>
            <a:endParaRPr sz="1400" dirty="0"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latin typeface="Lato"/>
                <a:ea typeface="Lato"/>
                <a:cs typeface="Lato"/>
                <a:sym typeface="Lato"/>
              </a:rPr>
              <a:t>Problem Statement</a:t>
            </a:r>
            <a:endParaRPr sz="1400" dirty="0"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latin typeface="Lato"/>
                <a:ea typeface="Lato"/>
                <a:cs typeface="Lato"/>
                <a:sym typeface="Lato"/>
              </a:rPr>
              <a:t>Objective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Lato"/>
                <a:ea typeface="Lato"/>
                <a:cs typeface="Lato"/>
                <a:sym typeface="Lato"/>
              </a:rPr>
              <a:t>Methodology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Lato"/>
                <a:ea typeface="Lato"/>
                <a:cs typeface="Lato"/>
                <a:sym typeface="Lato"/>
              </a:rPr>
              <a:t>Expected Outcome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Lato"/>
                <a:ea typeface="Lato"/>
                <a:cs typeface="Lato"/>
                <a:sym typeface="Lato"/>
              </a:rPr>
              <a:t>Cost estimation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Lato"/>
                <a:ea typeface="Lato"/>
                <a:cs typeface="Lato"/>
                <a:sym typeface="Lato"/>
              </a:rPr>
              <a:t>Gantt chart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4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 txBox="1">
            <a:spLocks noGrp="1"/>
          </p:cNvSpPr>
          <p:nvPr>
            <p:ph type="title"/>
          </p:nvPr>
        </p:nvSpPr>
        <p:spPr>
          <a:xfrm>
            <a:off x="1156823" y="393750"/>
            <a:ext cx="2649269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"/>
              </a:rPr>
              <a:t>Introduction</a:t>
            </a:r>
            <a:endParaRPr dirty="0">
              <a:latin typeface=""/>
            </a:endParaRPr>
          </a:p>
        </p:txBody>
      </p:sp>
      <p:sp>
        <p:nvSpPr>
          <p:cNvPr id="246" name="Google Shape;246;p19"/>
          <p:cNvSpPr txBox="1">
            <a:spLocks noGrp="1"/>
          </p:cNvSpPr>
          <p:nvPr>
            <p:ph type="body" idx="1"/>
          </p:nvPr>
        </p:nvSpPr>
        <p:spPr>
          <a:xfrm>
            <a:off x="1156823" y="13078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 err="1">
                <a:latin typeface=""/>
                <a:ea typeface="Arial"/>
                <a:cs typeface="Arial"/>
                <a:sym typeface="Arial"/>
              </a:rPr>
              <a:t>SurakshyaCam</a:t>
            </a:r>
            <a:r>
              <a:rPr lang="en-GB" sz="1400" dirty="0">
                <a:latin typeface=""/>
                <a:ea typeface="Arial"/>
                <a:cs typeface="Arial"/>
                <a:sym typeface="Arial"/>
              </a:rPr>
              <a:t> is a </a:t>
            </a:r>
            <a:r>
              <a:rPr lang="en-GB" sz="1400" b="1" dirty="0">
                <a:latin typeface=""/>
                <a:ea typeface="Arial"/>
                <a:cs typeface="Arial"/>
                <a:sym typeface="Arial"/>
              </a:rPr>
              <a:t>smart AI-based surveillance system</a:t>
            </a:r>
            <a:r>
              <a:rPr lang="en-GB" sz="1400" dirty="0">
                <a:latin typeface=""/>
                <a:ea typeface="Arial"/>
                <a:cs typeface="Arial"/>
                <a:sym typeface="Arial"/>
              </a:rPr>
              <a:t> built to make campuses safer. Unlike traditional CCTV that only records, our system </a:t>
            </a:r>
            <a:r>
              <a:rPr lang="en-GB" sz="1400" b="1" dirty="0">
                <a:latin typeface=""/>
                <a:ea typeface="Arial"/>
                <a:cs typeface="Arial"/>
                <a:sym typeface="Arial"/>
              </a:rPr>
              <a:t>detects people, recognizes faces, reads banners, and sends instant alerts</a:t>
            </a:r>
            <a:r>
              <a:rPr lang="en-GB" sz="1400" dirty="0">
                <a:latin typeface=""/>
                <a:ea typeface="Arial"/>
                <a:cs typeface="Arial"/>
                <a:sym typeface="Arial"/>
              </a:rPr>
              <a:t>. Using </a:t>
            </a:r>
            <a:r>
              <a:rPr lang="en-GB" sz="1400" b="1" dirty="0">
                <a:latin typeface=""/>
                <a:ea typeface="Arial"/>
                <a:cs typeface="Arial"/>
                <a:sym typeface="Arial"/>
              </a:rPr>
              <a:t>ESP32-CAM with IoT sensors</a:t>
            </a:r>
            <a:r>
              <a:rPr lang="en-GB" sz="1400" dirty="0">
                <a:latin typeface=""/>
                <a:ea typeface="Arial"/>
                <a:cs typeface="Arial"/>
                <a:sym typeface="Arial"/>
              </a:rPr>
              <a:t> and server-side AI like </a:t>
            </a:r>
            <a:r>
              <a:rPr lang="en-GB" sz="1400" b="1" dirty="0">
                <a:latin typeface=""/>
                <a:ea typeface="Arial"/>
                <a:cs typeface="Arial"/>
                <a:sym typeface="Arial"/>
              </a:rPr>
              <a:t>YOLOv8</a:t>
            </a:r>
            <a:r>
              <a:rPr lang="en-GB" sz="1400" dirty="0">
                <a:latin typeface=""/>
                <a:ea typeface="Arial"/>
                <a:cs typeface="Arial"/>
                <a:sym typeface="Arial"/>
              </a:rPr>
              <a:t> and </a:t>
            </a:r>
            <a:r>
              <a:rPr lang="en-GB" sz="1400" b="1" dirty="0">
                <a:latin typeface=""/>
                <a:ea typeface="Arial"/>
                <a:cs typeface="Arial"/>
                <a:sym typeface="Arial"/>
              </a:rPr>
              <a:t>Tesseract OCR</a:t>
            </a:r>
            <a:r>
              <a:rPr lang="en-GB" sz="1400" dirty="0">
                <a:latin typeface=""/>
                <a:ea typeface="Arial"/>
                <a:cs typeface="Arial"/>
                <a:sym typeface="Arial"/>
              </a:rPr>
              <a:t>, it provides:</a:t>
            </a:r>
            <a:endParaRPr sz="1400" dirty="0">
              <a:latin typeface=""/>
              <a:ea typeface="Arial"/>
              <a:cs typeface="Arial"/>
              <a:sym typeface="Arial"/>
            </a:endParaRPr>
          </a:p>
          <a:p>
            <a:pPr marL="330200" indent="-171450">
              <a:lnSpc>
                <a:spcPct val="150000"/>
              </a:lnSpc>
              <a:spcBef>
                <a:spcPts val="1600"/>
              </a:spcBef>
              <a:buClr>
                <a:schemeClr val="tx1"/>
              </a:buClr>
              <a:buSzPts val="1100"/>
            </a:pPr>
            <a:r>
              <a:rPr lang="en-GB" sz="1100" dirty="0">
                <a:latin typeface=""/>
                <a:ea typeface="Arial"/>
                <a:cs typeface="Arial"/>
                <a:sym typeface="Arial"/>
              </a:rPr>
              <a:t>Real-time </a:t>
            </a:r>
            <a:r>
              <a:rPr lang="en-GB" sz="1100" b="1" dirty="0">
                <a:latin typeface=""/>
                <a:ea typeface="Arial"/>
                <a:cs typeface="Arial"/>
                <a:sym typeface="Arial"/>
              </a:rPr>
              <a:t>entry/exit monitoring</a:t>
            </a:r>
            <a:endParaRPr sz="1100" b="1" dirty="0">
              <a:latin typeface=""/>
              <a:ea typeface="Arial"/>
              <a:cs typeface="Arial"/>
              <a:sym typeface="Arial"/>
            </a:endParaRPr>
          </a:p>
          <a:p>
            <a:pPr marL="330200" indent="-171450">
              <a:lnSpc>
                <a:spcPct val="150000"/>
              </a:lnSpc>
              <a:buClr>
                <a:schemeClr val="tx1"/>
              </a:buClr>
              <a:buSzPts val="1100"/>
            </a:pPr>
            <a:r>
              <a:rPr lang="en-GB" sz="1100" b="1" dirty="0">
                <a:latin typeface=""/>
                <a:ea typeface="Arial"/>
                <a:cs typeface="Arial"/>
                <a:sym typeface="Arial"/>
              </a:rPr>
              <a:t>Occupancy management</a:t>
            </a:r>
            <a:r>
              <a:rPr lang="en-GB" sz="1100" dirty="0">
                <a:latin typeface=""/>
                <a:ea typeface="Arial"/>
                <a:cs typeface="Arial"/>
                <a:sym typeface="Arial"/>
              </a:rPr>
              <a:t> to prevent overcrowding</a:t>
            </a:r>
          </a:p>
          <a:p>
            <a:pPr marL="330200" indent="-171450">
              <a:lnSpc>
                <a:spcPct val="150000"/>
              </a:lnSpc>
              <a:buClr>
                <a:schemeClr val="tx1"/>
              </a:buClr>
              <a:buSzPts val="1100"/>
            </a:pPr>
            <a:r>
              <a:rPr lang="en-GB" sz="1100" b="1" dirty="0">
                <a:latin typeface=""/>
                <a:ea typeface="Arial"/>
                <a:cs typeface="Arial"/>
                <a:sym typeface="Arial"/>
              </a:rPr>
              <a:t>Visitor alerting</a:t>
            </a:r>
            <a:r>
              <a:rPr lang="en-GB" sz="1100" dirty="0">
                <a:latin typeface=""/>
                <a:ea typeface="Arial"/>
                <a:cs typeface="Arial"/>
                <a:sym typeface="Arial"/>
              </a:rPr>
              <a:t> for unknown individuals</a:t>
            </a:r>
          </a:p>
          <a:p>
            <a:pPr marL="330200" indent="-171450">
              <a:lnSpc>
                <a:spcPct val="150000"/>
              </a:lnSpc>
              <a:buClr>
                <a:schemeClr val="tx1"/>
              </a:buClr>
              <a:buSzPts val="1100"/>
            </a:pPr>
            <a:r>
              <a:rPr lang="en-GB" sz="1100" b="1" dirty="0">
                <a:latin typeface=""/>
                <a:ea typeface="Arial"/>
                <a:cs typeface="Arial"/>
                <a:sym typeface="Arial"/>
              </a:rPr>
              <a:t>Emergency text detection</a:t>
            </a:r>
            <a:r>
              <a:rPr lang="en-GB" sz="1100" dirty="0">
                <a:latin typeface=""/>
                <a:ea typeface="Arial"/>
                <a:cs typeface="Arial"/>
                <a:sym typeface="Arial"/>
              </a:rPr>
              <a:t> from banners or notices</a:t>
            </a:r>
            <a:endParaRPr sz="1100" dirty="0">
              <a:latin typeface="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dirty="0">
                <a:latin typeface=""/>
                <a:ea typeface="Arial"/>
                <a:cs typeface="Arial"/>
                <a:sym typeface="Arial"/>
              </a:rPr>
              <a:t>In short, </a:t>
            </a:r>
            <a:r>
              <a:rPr lang="en-GB" sz="1400" dirty="0" err="1">
                <a:latin typeface=""/>
                <a:ea typeface="Arial"/>
                <a:cs typeface="Arial"/>
                <a:sym typeface="Arial"/>
              </a:rPr>
              <a:t>SurakshyaCam</a:t>
            </a:r>
            <a:r>
              <a:rPr lang="en-GB" sz="1400" dirty="0">
                <a:latin typeface=""/>
                <a:ea typeface="Arial"/>
                <a:cs typeface="Arial"/>
                <a:sym typeface="Arial"/>
              </a:rPr>
              <a:t> is a </a:t>
            </a:r>
            <a:r>
              <a:rPr lang="en-GB" sz="1400" b="1" dirty="0">
                <a:latin typeface=""/>
                <a:ea typeface="Arial"/>
                <a:cs typeface="Arial"/>
                <a:sym typeface="Arial"/>
              </a:rPr>
              <a:t>low-cost, intelligent, and proactive security solution</a:t>
            </a:r>
            <a:r>
              <a:rPr lang="en-GB" sz="1400" dirty="0">
                <a:latin typeface=""/>
                <a:ea typeface="Arial"/>
                <a:cs typeface="Arial"/>
                <a:sym typeface="Arial"/>
              </a:rPr>
              <a:t> for schools, offices, and institutions.</a:t>
            </a:r>
            <a:endParaRPr sz="1400" dirty="0">
              <a:latin typeface="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>
            <a:spLocks noGrp="1"/>
          </p:cNvSpPr>
          <p:nvPr>
            <p:ph type="title"/>
          </p:nvPr>
        </p:nvSpPr>
        <p:spPr>
          <a:xfrm>
            <a:off x="1233183" y="293287"/>
            <a:ext cx="3096540" cy="653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"/>
              </a:rPr>
              <a:t>Background Theory</a:t>
            </a:r>
            <a:endParaRPr dirty="0">
              <a:latin typeface=""/>
            </a:endParaRPr>
          </a:p>
        </p:txBody>
      </p:sp>
      <p:sp>
        <p:nvSpPr>
          <p:cNvPr id="252" name="Google Shape;252;p20"/>
          <p:cNvSpPr txBox="1">
            <a:spLocks noGrp="1"/>
          </p:cNvSpPr>
          <p:nvPr>
            <p:ph type="body" idx="1"/>
          </p:nvPr>
        </p:nvSpPr>
        <p:spPr>
          <a:xfrm>
            <a:off x="1233183" y="761999"/>
            <a:ext cx="6424500" cy="42627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dirty="0" err="1">
                <a:latin typeface=""/>
                <a:ea typeface="Arial"/>
                <a:cs typeface="Arial"/>
                <a:sym typeface="Arial"/>
              </a:rPr>
              <a:t>SurakshyaCam</a:t>
            </a:r>
            <a:r>
              <a:rPr lang="en-GB" sz="1300" dirty="0">
                <a:latin typeface=""/>
                <a:ea typeface="Arial"/>
                <a:cs typeface="Arial"/>
                <a:sym typeface="Arial"/>
              </a:rPr>
              <a:t> is built on the fusion of </a:t>
            </a:r>
            <a:r>
              <a:rPr lang="en-GB" sz="1300" b="1" dirty="0">
                <a:latin typeface=""/>
                <a:ea typeface="Arial"/>
                <a:cs typeface="Arial"/>
                <a:sym typeface="Arial"/>
              </a:rPr>
              <a:t>IoT systems</a:t>
            </a:r>
            <a:r>
              <a:rPr lang="en-GB" sz="1300" dirty="0">
                <a:latin typeface=""/>
                <a:ea typeface="Arial"/>
                <a:cs typeface="Arial"/>
                <a:sym typeface="Arial"/>
              </a:rPr>
              <a:t> and </a:t>
            </a:r>
            <a:r>
              <a:rPr lang="en-GB" sz="1300" b="1" dirty="0">
                <a:latin typeface=""/>
                <a:ea typeface="Arial"/>
                <a:cs typeface="Arial"/>
                <a:sym typeface="Arial"/>
              </a:rPr>
              <a:t>AI-driven computer vision</a:t>
            </a:r>
            <a:r>
              <a:rPr lang="en-GB" sz="1300" dirty="0">
                <a:latin typeface=""/>
                <a:ea typeface="Arial"/>
                <a:cs typeface="Arial"/>
                <a:sym typeface="Arial"/>
              </a:rPr>
              <a:t>. The idea is simple: sensors and cameras capture real-world events, edge devices like the </a:t>
            </a:r>
            <a:r>
              <a:rPr lang="en-GB" sz="1300" b="1" dirty="0">
                <a:latin typeface=""/>
                <a:ea typeface="Arial"/>
                <a:cs typeface="Arial"/>
                <a:sym typeface="Arial"/>
              </a:rPr>
              <a:t>ESP32-CAM</a:t>
            </a:r>
            <a:r>
              <a:rPr lang="en-GB" sz="1300" dirty="0">
                <a:latin typeface=""/>
                <a:ea typeface="Arial"/>
                <a:cs typeface="Arial"/>
                <a:sym typeface="Arial"/>
              </a:rPr>
              <a:t> forward the data, and powerful server-side AI models </a:t>
            </a:r>
            <a:r>
              <a:rPr lang="en-GB" sz="1300" dirty="0" err="1">
                <a:latin typeface=""/>
                <a:ea typeface="Arial"/>
                <a:cs typeface="Arial"/>
                <a:sym typeface="Arial"/>
              </a:rPr>
              <a:t>analyze</a:t>
            </a:r>
            <a:r>
              <a:rPr lang="en-GB" sz="1300" dirty="0">
                <a:latin typeface=""/>
                <a:ea typeface="Arial"/>
                <a:cs typeface="Arial"/>
                <a:sym typeface="Arial"/>
              </a:rPr>
              <a:t> it in real time.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GB" sz="800" dirty="0">
              <a:latin typeface="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latin typeface=""/>
                <a:ea typeface="Arial"/>
                <a:cs typeface="Arial"/>
                <a:sym typeface="Arial"/>
              </a:rPr>
              <a:t>Core Technologies</a:t>
            </a:r>
            <a:endParaRPr sz="1800" dirty="0">
              <a:latin typeface="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/>
              <a:buChar char="●"/>
            </a:pPr>
            <a:r>
              <a:rPr lang="en-GB" sz="1000" b="1" dirty="0">
                <a:latin typeface=""/>
                <a:ea typeface="Arial"/>
                <a:cs typeface="Arial"/>
                <a:sym typeface="Arial"/>
              </a:rPr>
              <a:t>IoT Systems</a:t>
            </a:r>
            <a:r>
              <a:rPr lang="en-GB" sz="1000" dirty="0">
                <a:latin typeface=""/>
                <a:ea typeface="Arial"/>
                <a:cs typeface="Arial"/>
                <a:sym typeface="Arial"/>
              </a:rPr>
              <a:t> – Four layers: sensing (PIR sensor, RTC), edge (ESP32-CAM), communication (Wi-Fi/MQTT), and application (Django web dashboard).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/>
              <a:buChar char="●"/>
            </a:pPr>
            <a:r>
              <a:rPr lang="en-GB" sz="1000" b="1" dirty="0">
                <a:latin typeface=""/>
                <a:ea typeface="Arial"/>
                <a:cs typeface="Arial"/>
                <a:sym typeface="Arial"/>
              </a:rPr>
              <a:t>ESP32-CAM</a:t>
            </a:r>
            <a:r>
              <a:rPr lang="en-GB" sz="1000" dirty="0">
                <a:latin typeface=""/>
                <a:ea typeface="Arial"/>
                <a:cs typeface="Arial"/>
                <a:sym typeface="Arial"/>
              </a:rPr>
              <a:t> – A low-cost microcontroller with a built-in camera, ideal for image capture and streaming.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/>
              <a:buChar char="●"/>
            </a:pPr>
            <a:r>
              <a:rPr lang="en-GB" sz="1000" b="1" dirty="0">
                <a:latin typeface=""/>
                <a:ea typeface="Arial"/>
                <a:cs typeface="Arial"/>
                <a:sym typeface="Arial"/>
              </a:rPr>
              <a:t>YOLOv8</a:t>
            </a:r>
            <a:r>
              <a:rPr lang="en-GB" sz="1000" dirty="0">
                <a:latin typeface=""/>
                <a:ea typeface="Arial"/>
                <a:cs typeface="Arial"/>
                <a:sym typeface="Arial"/>
              </a:rPr>
              <a:t> – A deep learning algorithm that detects and counts people quickly and accurately.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/>
              <a:buChar char="●"/>
            </a:pPr>
            <a:r>
              <a:rPr lang="en-GB" sz="1000" b="1" dirty="0" err="1">
                <a:latin typeface=""/>
                <a:ea typeface="Arial"/>
                <a:cs typeface="Arial"/>
                <a:sym typeface="Arial"/>
              </a:rPr>
              <a:t>Dlib</a:t>
            </a:r>
            <a:r>
              <a:rPr lang="en-GB" sz="1000" b="1" dirty="0">
                <a:latin typeface=""/>
                <a:ea typeface="Arial"/>
                <a:cs typeface="Arial"/>
                <a:sym typeface="Arial"/>
              </a:rPr>
              <a:t> Face Recognition</a:t>
            </a:r>
            <a:r>
              <a:rPr lang="en-GB" sz="1000" dirty="0">
                <a:latin typeface=""/>
                <a:ea typeface="Arial"/>
                <a:cs typeface="Arial"/>
                <a:sym typeface="Arial"/>
              </a:rPr>
              <a:t> – Identifies known individuals versus visitors.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/>
              <a:buChar char="●"/>
            </a:pPr>
            <a:r>
              <a:rPr lang="en-GB" sz="1000" b="1" dirty="0">
                <a:latin typeface=""/>
                <a:ea typeface="Arial"/>
                <a:cs typeface="Arial"/>
                <a:sym typeface="Arial"/>
              </a:rPr>
              <a:t>Tesseract OCR</a:t>
            </a:r>
            <a:r>
              <a:rPr lang="en-GB" sz="1000" dirty="0">
                <a:latin typeface=""/>
                <a:ea typeface="Arial"/>
                <a:cs typeface="Arial"/>
                <a:sym typeface="Arial"/>
              </a:rPr>
              <a:t> – Reads text from banners or notices to trigger emergency alerts.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/>
              <a:buChar char="●"/>
            </a:pPr>
            <a:r>
              <a:rPr lang="en-GB" sz="1000" b="1" dirty="0">
                <a:latin typeface=""/>
                <a:ea typeface="Arial"/>
                <a:cs typeface="Arial"/>
                <a:sym typeface="Arial"/>
              </a:rPr>
              <a:t>PIR Motion Sensor</a:t>
            </a:r>
            <a:r>
              <a:rPr lang="en-GB" sz="1000" dirty="0">
                <a:latin typeface=""/>
                <a:ea typeface="Arial"/>
                <a:cs typeface="Arial"/>
                <a:sym typeface="Arial"/>
              </a:rPr>
              <a:t> – Detects human movement to activate the camera only when needed.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/>
              <a:buChar char="●"/>
            </a:pPr>
            <a:r>
              <a:rPr lang="en-GB" sz="1000" b="1" dirty="0">
                <a:latin typeface=""/>
                <a:ea typeface="Arial"/>
                <a:cs typeface="Arial"/>
                <a:sym typeface="Arial"/>
              </a:rPr>
              <a:t>RTC Module</a:t>
            </a:r>
            <a:r>
              <a:rPr lang="en-GB" sz="1000" dirty="0">
                <a:latin typeface=""/>
                <a:ea typeface="Arial"/>
                <a:cs typeface="Arial"/>
                <a:sym typeface="Arial"/>
              </a:rPr>
              <a:t> – Provides precise timestamps for logging and auditing.</a:t>
            </a:r>
            <a:endParaRPr sz="1000" dirty="0">
              <a:latin typeface="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0"/>
          <p:cNvSpPr txBox="1">
            <a:spLocks noGrp="1"/>
          </p:cNvSpPr>
          <p:nvPr>
            <p:ph type="body" idx="4294967295"/>
          </p:nvPr>
        </p:nvSpPr>
        <p:spPr>
          <a:xfrm>
            <a:off x="3267075" y="2659063"/>
            <a:ext cx="5876925" cy="8080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 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54" name="Google Shape;254;p20"/>
          <p:cNvSpPr txBox="1">
            <a:spLocks noGrp="1"/>
          </p:cNvSpPr>
          <p:nvPr>
            <p:ph type="body" idx="4294967295"/>
          </p:nvPr>
        </p:nvSpPr>
        <p:spPr>
          <a:xfrm>
            <a:off x="3267075" y="3573463"/>
            <a:ext cx="5876925" cy="8080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FFFF"/>
                </a:solidFill>
              </a:rPr>
              <a:t>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>
            <a:spLocks noGrp="1"/>
          </p:cNvSpPr>
          <p:nvPr>
            <p:ph type="title"/>
          </p:nvPr>
        </p:nvSpPr>
        <p:spPr>
          <a:xfrm>
            <a:off x="1078669" y="564394"/>
            <a:ext cx="3407362" cy="5753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"/>
              </a:rPr>
              <a:t>Background Theory</a:t>
            </a:r>
            <a:endParaRPr dirty="0">
              <a:latin typeface=""/>
            </a:endParaRPr>
          </a:p>
        </p:txBody>
      </p:sp>
      <p:sp>
        <p:nvSpPr>
          <p:cNvPr id="260" name="Google Shape;260;p21"/>
          <p:cNvSpPr txBox="1">
            <a:spLocks noGrp="1"/>
          </p:cNvSpPr>
          <p:nvPr>
            <p:ph type="body" idx="1"/>
          </p:nvPr>
        </p:nvSpPr>
        <p:spPr>
          <a:xfrm>
            <a:off x="1007441" y="1336351"/>
            <a:ext cx="6369000" cy="278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 </a:t>
            </a:r>
            <a:r>
              <a:rPr lang="en-GB" sz="16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dirty="0">
                <a:solidFill>
                  <a:schemeClr val="tx1"/>
                </a:solidFill>
                <a:latin typeface=""/>
                <a:ea typeface="Arial"/>
                <a:cs typeface="Arial"/>
                <a:sym typeface="Arial"/>
              </a:rPr>
              <a:t>System Concept</a:t>
            </a:r>
            <a:endParaRPr sz="1800" dirty="0">
              <a:solidFill>
                <a:schemeClr val="tx1"/>
              </a:solidFill>
              <a:latin typeface=""/>
              <a:ea typeface="Arial"/>
              <a:cs typeface="Arial"/>
              <a:sym typeface="Arial"/>
            </a:endParaRPr>
          </a:p>
          <a:p>
            <a:pPr marL="330200" indent="-171450">
              <a:lnSpc>
                <a:spcPct val="100000"/>
              </a:lnSpc>
              <a:spcBef>
                <a:spcPts val="1600"/>
              </a:spcBef>
              <a:buClr>
                <a:schemeClr val="tx1"/>
              </a:buClr>
              <a:buSzPts val="1100"/>
            </a:pPr>
            <a:r>
              <a:rPr lang="en-GB" sz="1200" b="1" dirty="0">
                <a:solidFill>
                  <a:schemeClr val="tx1"/>
                </a:solidFill>
                <a:latin typeface=""/>
                <a:ea typeface="Arial"/>
                <a:cs typeface="Arial"/>
                <a:sym typeface="Arial"/>
              </a:rPr>
              <a:t>Hybrid Edge–Server Architecture</a:t>
            </a:r>
            <a:r>
              <a:rPr lang="en-GB" sz="1200" dirty="0">
                <a:solidFill>
                  <a:schemeClr val="tx1"/>
                </a:solidFill>
                <a:latin typeface=""/>
                <a:ea typeface="Arial"/>
                <a:cs typeface="Arial"/>
                <a:sym typeface="Arial"/>
              </a:rPr>
              <a:t> → ESP32-CAM captures events, while server-side AI handles heavy computation.</a:t>
            </a:r>
          </a:p>
          <a:p>
            <a:pPr marL="330200" indent="-171450">
              <a:lnSpc>
                <a:spcPct val="100000"/>
              </a:lnSpc>
              <a:spcBef>
                <a:spcPts val="1600"/>
              </a:spcBef>
              <a:buClr>
                <a:schemeClr val="tx1"/>
              </a:buClr>
              <a:buSzPts val="1100"/>
            </a:pPr>
            <a:r>
              <a:rPr lang="en-GB" sz="1200" b="1" dirty="0">
                <a:solidFill>
                  <a:schemeClr val="tx1"/>
                </a:solidFill>
                <a:latin typeface=""/>
                <a:ea typeface="Arial"/>
                <a:cs typeface="Arial"/>
                <a:sym typeface="Arial"/>
              </a:rPr>
              <a:t>Event-Driven Monitoring</a:t>
            </a:r>
            <a:r>
              <a:rPr lang="en-GB" sz="1200" dirty="0">
                <a:solidFill>
                  <a:schemeClr val="tx1"/>
                </a:solidFill>
                <a:latin typeface=""/>
                <a:ea typeface="Arial"/>
                <a:cs typeface="Arial"/>
                <a:sym typeface="Arial"/>
              </a:rPr>
              <a:t> → Camera activates only when motion is detected, saving power and resources.</a:t>
            </a:r>
          </a:p>
          <a:p>
            <a:pPr marL="330200" indent="-171450">
              <a:lnSpc>
                <a:spcPct val="100000"/>
              </a:lnSpc>
              <a:spcBef>
                <a:spcPts val="1600"/>
              </a:spcBef>
              <a:buClr>
                <a:schemeClr val="tx1"/>
              </a:buClr>
              <a:buSzPts val="1100"/>
            </a:pPr>
            <a:r>
              <a:rPr lang="en-GB" sz="1200" b="1" dirty="0">
                <a:solidFill>
                  <a:schemeClr val="tx1"/>
                </a:solidFill>
                <a:latin typeface=""/>
                <a:ea typeface="Arial"/>
                <a:cs typeface="Arial"/>
                <a:sym typeface="Arial"/>
              </a:rPr>
              <a:t>Integrated Alerts</a:t>
            </a:r>
            <a:r>
              <a:rPr lang="en-GB" sz="1200" dirty="0">
                <a:solidFill>
                  <a:schemeClr val="tx1"/>
                </a:solidFill>
                <a:latin typeface=""/>
                <a:ea typeface="Arial"/>
                <a:cs typeface="Arial"/>
                <a:sym typeface="Arial"/>
              </a:rPr>
              <a:t> → Relay, buzzer, SMS, and email notifications ensure immediate response.</a:t>
            </a:r>
          </a:p>
          <a:p>
            <a:pPr marL="330200" indent="-171450">
              <a:lnSpc>
                <a:spcPct val="100000"/>
              </a:lnSpc>
              <a:spcBef>
                <a:spcPts val="1600"/>
              </a:spcBef>
              <a:buClr>
                <a:schemeClr val="tx1"/>
              </a:buClr>
              <a:buSzPts val="1100"/>
            </a:pPr>
            <a:r>
              <a:rPr lang="en-GB" sz="1200" b="1" dirty="0">
                <a:solidFill>
                  <a:schemeClr val="tx1"/>
                </a:solidFill>
                <a:latin typeface=""/>
                <a:ea typeface="Arial"/>
                <a:cs typeface="Arial"/>
                <a:sym typeface="Arial"/>
              </a:rPr>
              <a:t>Web Dashboard</a:t>
            </a:r>
            <a:r>
              <a:rPr lang="en-GB" sz="1200" dirty="0">
                <a:solidFill>
                  <a:schemeClr val="tx1"/>
                </a:solidFill>
                <a:latin typeface=""/>
                <a:ea typeface="Arial"/>
                <a:cs typeface="Arial"/>
                <a:sym typeface="Arial"/>
              </a:rPr>
              <a:t> → Centralized monitoring with logs, live video, and occupancy data.</a:t>
            </a:r>
            <a:endParaRPr sz="1200" dirty="0">
              <a:solidFill>
                <a:schemeClr val="tx1"/>
              </a:solidFill>
              <a:latin typeface="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>
            <a:spLocks noGrp="1"/>
          </p:cNvSpPr>
          <p:nvPr>
            <p:ph type="title"/>
          </p:nvPr>
        </p:nvSpPr>
        <p:spPr>
          <a:xfrm>
            <a:off x="844062" y="440087"/>
            <a:ext cx="2993292" cy="5915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"/>
              </a:rPr>
              <a:t>Problem statement</a:t>
            </a:r>
            <a:endParaRPr dirty="0">
              <a:latin typeface=""/>
            </a:endParaRPr>
          </a:p>
        </p:txBody>
      </p:sp>
      <p:sp>
        <p:nvSpPr>
          <p:cNvPr id="266" name="Google Shape;266;p22"/>
          <p:cNvSpPr txBox="1">
            <a:spLocks noGrp="1"/>
          </p:cNvSpPr>
          <p:nvPr>
            <p:ph type="body" idx="1"/>
          </p:nvPr>
        </p:nvSpPr>
        <p:spPr>
          <a:xfrm>
            <a:off x="1005346" y="1146436"/>
            <a:ext cx="6786591" cy="33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"/>
                <a:ea typeface="Arial"/>
                <a:cs typeface="Arial"/>
                <a:sym typeface="Arial"/>
              </a:rPr>
              <a:t>Educational institutions struggle with </a:t>
            </a:r>
            <a:r>
              <a:rPr lang="en-GB" sz="1400" b="1" dirty="0">
                <a:latin typeface=""/>
                <a:ea typeface="Arial"/>
                <a:cs typeface="Arial"/>
                <a:sym typeface="Arial"/>
              </a:rPr>
              <a:t>manual security and attendance systems</a:t>
            </a:r>
            <a:r>
              <a:rPr lang="en-GB" sz="1400" dirty="0">
                <a:latin typeface=""/>
                <a:ea typeface="Arial"/>
                <a:cs typeface="Arial"/>
                <a:sym typeface="Arial"/>
              </a:rPr>
              <a:t> that are error-prone, time-consuming, and lack real-time intelligence. Current CCTV setups only record video but cannot automatically detect suspicious activity, verify identities, or respond to emergencies.</a:t>
            </a:r>
            <a:endParaRPr sz="1400" dirty="0">
              <a:latin typeface="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 dirty="0">
                <a:latin typeface=""/>
                <a:ea typeface="Arial"/>
                <a:cs typeface="Arial"/>
                <a:sym typeface="Arial"/>
              </a:rPr>
              <a:t>Key challenges include:</a:t>
            </a:r>
            <a:endParaRPr sz="1400" dirty="0">
              <a:latin typeface="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/>
              <a:buChar char="●"/>
            </a:pPr>
            <a:r>
              <a:rPr lang="en-GB" sz="1200" dirty="0">
                <a:latin typeface=""/>
                <a:ea typeface="Arial"/>
                <a:cs typeface="Arial"/>
                <a:sym typeface="Arial"/>
              </a:rPr>
              <a:t>No </a:t>
            </a:r>
            <a:r>
              <a:rPr lang="en-GB" sz="1200" b="1" dirty="0">
                <a:latin typeface=""/>
                <a:ea typeface="Arial"/>
                <a:cs typeface="Arial"/>
                <a:sym typeface="Arial"/>
              </a:rPr>
              <a:t>real-time occupancy monitoring</a:t>
            </a:r>
            <a:r>
              <a:rPr lang="en-GB" sz="1200" dirty="0">
                <a:latin typeface=""/>
                <a:ea typeface="Arial"/>
                <a:cs typeface="Arial"/>
                <a:sym typeface="Arial"/>
              </a:rPr>
              <a:t>, leading to overcrowding in classrooms and labs.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/>
              <a:buChar char="●"/>
            </a:pPr>
            <a:r>
              <a:rPr lang="en-GB" sz="1200" dirty="0">
                <a:latin typeface=""/>
                <a:ea typeface="Arial"/>
                <a:cs typeface="Arial"/>
                <a:sym typeface="Arial"/>
              </a:rPr>
              <a:t>Difficulty in </a:t>
            </a:r>
            <a:r>
              <a:rPr lang="en-GB" sz="1200" b="1" dirty="0">
                <a:latin typeface=""/>
                <a:ea typeface="Arial"/>
                <a:cs typeface="Arial"/>
                <a:sym typeface="Arial"/>
              </a:rPr>
              <a:t>distinguishing students, staff, and unknown visitors</a:t>
            </a:r>
            <a:r>
              <a:rPr lang="en-GB" sz="1200" dirty="0">
                <a:latin typeface=""/>
                <a:ea typeface="Arial"/>
                <a:cs typeface="Arial"/>
                <a:sym typeface="Arial"/>
              </a:rPr>
              <a:t>, which poses security risks.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/>
              <a:buChar char="●"/>
            </a:pPr>
            <a:r>
              <a:rPr lang="en-GB" sz="1200" dirty="0">
                <a:latin typeface=""/>
                <a:ea typeface="Arial"/>
                <a:cs typeface="Arial"/>
                <a:sym typeface="Arial"/>
              </a:rPr>
              <a:t>Lack of </a:t>
            </a:r>
            <a:r>
              <a:rPr lang="en-GB" sz="1200" b="1" dirty="0">
                <a:latin typeface=""/>
                <a:ea typeface="Arial"/>
                <a:cs typeface="Arial"/>
                <a:sym typeface="Arial"/>
              </a:rPr>
              <a:t>automated banner text detection</a:t>
            </a:r>
            <a:r>
              <a:rPr lang="en-GB" sz="1200" dirty="0">
                <a:latin typeface=""/>
                <a:ea typeface="Arial"/>
                <a:cs typeface="Arial"/>
                <a:sym typeface="Arial"/>
              </a:rPr>
              <a:t> for emergency notices like </a:t>
            </a:r>
            <a:r>
              <a:rPr lang="en-GB" sz="1200" i="1" dirty="0">
                <a:latin typeface=""/>
                <a:ea typeface="Arial"/>
                <a:cs typeface="Arial"/>
                <a:sym typeface="Arial"/>
              </a:rPr>
              <a:t>“FIRE”</a:t>
            </a:r>
            <a:r>
              <a:rPr lang="en-GB" sz="1200" dirty="0">
                <a:latin typeface=""/>
                <a:ea typeface="Arial"/>
                <a:cs typeface="Arial"/>
                <a:sym typeface="Arial"/>
              </a:rPr>
              <a:t> or </a:t>
            </a:r>
            <a:r>
              <a:rPr lang="en-GB" sz="1200" i="1" dirty="0">
                <a:latin typeface=""/>
                <a:ea typeface="Arial"/>
                <a:cs typeface="Arial"/>
                <a:sym typeface="Arial"/>
              </a:rPr>
              <a:t>“EVACUATE”</a:t>
            </a:r>
            <a:r>
              <a:rPr lang="en-GB" sz="1200" dirty="0">
                <a:latin typeface=""/>
                <a:ea typeface="Arial"/>
                <a:cs typeface="Arial"/>
                <a:sym typeface="Arial"/>
              </a:rPr>
              <a:t>.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/>
              <a:buChar char="●"/>
            </a:pPr>
            <a:r>
              <a:rPr lang="en-GB" sz="1200" dirty="0">
                <a:latin typeface=""/>
                <a:ea typeface="Arial"/>
                <a:cs typeface="Arial"/>
                <a:sym typeface="Arial"/>
              </a:rPr>
              <a:t>Existing low-cost systems fail to integrate </a:t>
            </a:r>
            <a:r>
              <a:rPr lang="en-GB" sz="1200" b="1" dirty="0">
                <a:latin typeface=""/>
                <a:ea typeface="Arial"/>
                <a:cs typeface="Arial"/>
                <a:sym typeface="Arial"/>
              </a:rPr>
              <a:t>AI-powered detection, IoT sensors, and alert mechanisms</a:t>
            </a:r>
            <a:r>
              <a:rPr lang="en-GB" sz="1200" dirty="0">
                <a:latin typeface=""/>
                <a:ea typeface="Arial"/>
                <a:cs typeface="Arial"/>
                <a:sym typeface="Arial"/>
              </a:rPr>
              <a:t> into one unified solution.</a:t>
            </a:r>
            <a:endParaRPr sz="1200" dirty="0">
              <a:latin typeface="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67" name="Google Shape;267;p22"/>
          <p:cNvSpPr txBox="1"/>
          <p:nvPr/>
        </p:nvSpPr>
        <p:spPr>
          <a:xfrm>
            <a:off x="5998575" y="1225900"/>
            <a:ext cx="2879400" cy="28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>
            <a:spLocks noGrp="1"/>
          </p:cNvSpPr>
          <p:nvPr>
            <p:ph type="body" idx="1"/>
          </p:nvPr>
        </p:nvSpPr>
        <p:spPr>
          <a:xfrm>
            <a:off x="1081046" y="1499569"/>
            <a:ext cx="7157298" cy="12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latin typeface=""/>
                <a:ea typeface="Arial"/>
                <a:cs typeface="Arial"/>
                <a:sym typeface="Arial"/>
              </a:rPr>
              <a:t>Therefore, there is a need for a </a:t>
            </a:r>
            <a:r>
              <a:rPr lang="en-GB" sz="1600" b="1" dirty="0">
                <a:latin typeface=""/>
                <a:ea typeface="Arial"/>
                <a:cs typeface="Arial"/>
                <a:sym typeface="Arial"/>
              </a:rPr>
              <a:t>low-cost, AI-powered surveillance platform</a:t>
            </a:r>
            <a:r>
              <a:rPr lang="en-GB" sz="1600" dirty="0">
                <a:latin typeface=""/>
                <a:ea typeface="Arial"/>
                <a:cs typeface="Arial"/>
                <a:sym typeface="Arial"/>
              </a:rPr>
              <a:t> that combines </a:t>
            </a:r>
            <a:r>
              <a:rPr lang="en-GB" sz="1600" b="1" dirty="0">
                <a:latin typeface=""/>
                <a:ea typeface="Arial"/>
                <a:cs typeface="Arial"/>
                <a:sym typeface="Arial"/>
              </a:rPr>
              <a:t>YOLO-based person detection</a:t>
            </a:r>
            <a:r>
              <a:rPr lang="en-GB" sz="1600" dirty="0">
                <a:latin typeface=""/>
                <a:ea typeface="Arial"/>
                <a:cs typeface="Arial"/>
                <a:sym typeface="Arial"/>
              </a:rPr>
              <a:t>, </a:t>
            </a:r>
            <a:r>
              <a:rPr lang="en-GB" sz="1600" b="1" dirty="0">
                <a:latin typeface=""/>
                <a:ea typeface="Arial"/>
                <a:cs typeface="Arial"/>
                <a:sym typeface="Arial"/>
              </a:rPr>
              <a:t>face recognition</a:t>
            </a:r>
            <a:r>
              <a:rPr lang="en-GB" sz="1600" dirty="0">
                <a:latin typeface=""/>
                <a:ea typeface="Arial"/>
                <a:cs typeface="Arial"/>
                <a:sym typeface="Arial"/>
              </a:rPr>
              <a:t>, </a:t>
            </a:r>
            <a:r>
              <a:rPr lang="en-GB" sz="1600" b="1" dirty="0">
                <a:latin typeface=""/>
                <a:ea typeface="Arial"/>
                <a:cs typeface="Arial"/>
                <a:sym typeface="Arial"/>
              </a:rPr>
              <a:t>OCR text detection</a:t>
            </a:r>
            <a:r>
              <a:rPr lang="en-GB" sz="1600" dirty="0">
                <a:latin typeface=""/>
                <a:ea typeface="Arial"/>
                <a:cs typeface="Arial"/>
                <a:sym typeface="Arial"/>
              </a:rPr>
              <a:t>, and </a:t>
            </a:r>
            <a:r>
              <a:rPr lang="en-GB" sz="1600" b="1" dirty="0">
                <a:latin typeface=""/>
                <a:ea typeface="Arial"/>
                <a:cs typeface="Arial"/>
                <a:sym typeface="Arial"/>
              </a:rPr>
              <a:t>IoT communication protocols</a:t>
            </a:r>
            <a:r>
              <a:rPr lang="en-GB" sz="1600" dirty="0">
                <a:latin typeface=""/>
                <a:ea typeface="Arial"/>
                <a:cs typeface="Arial"/>
                <a:sym typeface="Arial"/>
              </a:rPr>
              <a:t> to provide </a:t>
            </a:r>
            <a:r>
              <a:rPr lang="en-GB" sz="1600" b="1" dirty="0">
                <a:latin typeface=""/>
                <a:ea typeface="Arial"/>
                <a:cs typeface="Arial"/>
                <a:sym typeface="Arial"/>
              </a:rPr>
              <a:t>comprehensive entry monitoring, occupancy management, visitor alerting, and emergency response</a:t>
            </a:r>
            <a:r>
              <a:rPr lang="en-GB" sz="1600" dirty="0">
                <a:latin typeface=""/>
                <a:ea typeface="Arial"/>
                <a:cs typeface="Arial"/>
                <a:sym typeface="Arial"/>
              </a:rPr>
              <a:t> in real time.</a:t>
            </a:r>
            <a:endParaRPr sz="1600" dirty="0">
              <a:latin typeface="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74" name="Google Shape;274;p23"/>
          <p:cNvSpPr txBox="1"/>
          <p:nvPr/>
        </p:nvSpPr>
        <p:spPr>
          <a:xfrm>
            <a:off x="1634217" y="3508020"/>
            <a:ext cx="4623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1081046" y="741818"/>
            <a:ext cx="4543800" cy="10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Lato"/>
                <a:ea typeface="Lato"/>
                <a:cs typeface="Lato"/>
                <a:sym typeface="Lato"/>
              </a:rPr>
              <a:t>Problem</a:t>
            </a:r>
            <a:r>
              <a:rPr lang="en-GB" sz="24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2400" dirty="0">
                <a:latin typeface="Lato"/>
                <a:ea typeface="Lato"/>
                <a:cs typeface="Lato"/>
                <a:sym typeface="Lato"/>
              </a:rPr>
              <a:t>statement</a:t>
            </a:r>
            <a:endParaRPr sz="2400" dirty="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 txBox="1">
            <a:spLocks noGrp="1"/>
          </p:cNvSpPr>
          <p:nvPr>
            <p:ph type="body" idx="1"/>
          </p:nvPr>
        </p:nvSpPr>
        <p:spPr>
          <a:xfrm>
            <a:off x="1297499" y="1323550"/>
            <a:ext cx="5971317" cy="32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Bef>
                <a:spcPts val="1600"/>
              </a:spcBef>
              <a:buFont typeface="Wingdings" pitchFamily="2" charset="2"/>
              <a:buChar char="§"/>
            </a:pPr>
            <a:r>
              <a:rPr lang="en-GB" sz="1100" b="1" dirty="0">
                <a:latin typeface="Arial"/>
                <a:ea typeface="Arial"/>
                <a:cs typeface="Arial"/>
                <a:sym typeface="Arial"/>
              </a:rPr>
              <a:t>Detect persons and banner text</a:t>
            </a:r>
            <a:r>
              <a:rPr lang="en-GB" sz="1100" dirty="0">
                <a:latin typeface="Arial"/>
                <a:ea typeface="Arial"/>
                <a:cs typeface="Arial"/>
                <a:sym typeface="Arial"/>
              </a:rPr>
              <a:t> with AI models like YOLOv8, Tesseract OCR and  ensure accurate attendance and security logging.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l" rtl="0">
              <a:spcBef>
                <a:spcPts val="16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GB" sz="1100" b="1" dirty="0">
                <a:latin typeface="Arial"/>
                <a:ea typeface="Arial"/>
                <a:cs typeface="Arial"/>
                <a:sym typeface="Arial"/>
              </a:rPr>
              <a:t>Identify suspicious activities</a:t>
            </a:r>
            <a:r>
              <a:rPr lang="en-GB" sz="1100" dirty="0">
                <a:latin typeface="Arial"/>
                <a:ea typeface="Arial"/>
                <a:cs typeface="Arial"/>
                <a:sym typeface="Arial"/>
              </a:rPr>
              <a:t> and trigger real-time alerts with buzzer, SMS, or email notifications.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l" rtl="0">
              <a:spcBef>
                <a:spcPts val="16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GB" sz="1100" b="1" dirty="0">
                <a:latin typeface="Arial"/>
                <a:ea typeface="Arial"/>
                <a:cs typeface="Arial"/>
                <a:sym typeface="Arial"/>
              </a:rPr>
              <a:t>Provide centralized monitoring</a:t>
            </a:r>
            <a:r>
              <a:rPr lang="en-GB" sz="1100" dirty="0">
                <a:latin typeface="Arial"/>
                <a:ea typeface="Arial"/>
                <a:cs typeface="Arial"/>
                <a:sym typeface="Arial"/>
              </a:rPr>
              <a:t> through a web dashboard with live video, logs, and analytics.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1297500" y="549350"/>
            <a:ext cx="4647600" cy="10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latin typeface="Lato"/>
                <a:ea typeface="Lato"/>
                <a:cs typeface="Lato"/>
                <a:sym typeface="Lato"/>
              </a:rPr>
              <a:t>Objectives</a:t>
            </a:r>
            <a:endParaRPr sz="2700" dirty="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>
            <a:spLocks noGrp="1"/>
          </p:cNvSpPr>
          <p:nvPr>
            <p:ph type="title"/>
          </p:nvPr>
        </p:nvSpPr>
        <p:spPr>
          <a:xfrm>
            <a:off x="243840" y="170358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"/>
              </a:rPr>
              <a:t>Methodology</a:t>
            </a:r>
            <a:br>
              <a:rPr lang="en-GB" dirty="0">
                <a:latin typeface=""/>
              </a:rPr>
            </a:br>
            <a:br>
              <a:rPr lang="en-GB" sz="1600" dirty="0">
                <a:latin typeface=""/>
              </a:rPr>
            </a:br>
            <a:r>
              <a:rPr lang="en-US" sz="16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All Connects — System Architecture</a:t>
            </a:r>
            <a:br>
              <a:rPr lang="en-US" sz="1600" dirty="0"/>
            </a:br>
            <a:endParaRPr sz="1600" dirty="0">
              <a:latin typeface="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1195350" y="1870790"/>
            <a:ext cx="7141200" cy="3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8FEBC3EA-1D4E-0DAE-0969-C672A345E38B}"/>
              </a:ext>
            </a:extLst>
          </p:cNvPr>
          <p:cNvSpPr/>
          <p:nvPr/>
        </p:nvSpPr>
        <p:spPr>
          <a:xfrm>
            <a:off x="274320" y="1264920"/>
            <a:ext cx="2658765" cy="38108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A9402FF8-5B08-799A-C40A-EF9599B06F23}"/>
              </a:ext>
            </a:extLst>
          </p:cNvPr>
          <p:cNvSpPr/>
          <p:nvPr/>
        </p:nvSpPr>
        <p:spPr>
          <a:xfrm>
            <a:off x="274320" y="1264920"/>
            <a:ext cx="2658764" cy="487440"/>
          </a:xfrm>
          <a:prstGeom prst="rect">
            <a:avLst/>
          </a:prstGeom>
          <a:solidFill>
            <a:srgbClr val="AE2012"/>
          </a:solidFill>
          <a:ln/>
        </p:spPr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586B2612-D2F1-431C-EDC3-6E1FA14698A9}"/>
              </a:ext>
            </a:extLst>
          </p:cNvPr>
          <p:cNvSpPr/>
          <p:nvPr/>
        </p:nvSpPr>
        <p:spPr>
          <a:xfrm>
            <a:off x="274320" y="1264920"/>
            <a:ext cx="2658764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LAYER</a:t>
            </a:r>
            <a:endParaRPr lang="en-US" sz="12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9FDE8EB7-8118-2087-D03D-689438AAF7A5}"/>
              </a:ext>
            </a:extLst>
          </p:cNvPr>
          <p:cNvSpPr/>
          <p:nvPr/>
        </p:nvSpPr>
        <p:spPr>
          <a:xfrm>
            <a:off x="457200" y="1859280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PIR Motion Sensor</a:t>
            </a:r>
            <a:endParaRPr lang="en-US" sz="115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C7EFCE4B-37E8-A0EC-1E8C-6B3783582DCA}"/>
              </a:ext>
            </a:extLst>
          </p:cNvPr>
          <p:cNvSpPr/>
          <p:nvPr/>
        </p:nvSpPr>
        <p:spPr>
          <a:xfrm>
            <a:off x="457200" y="2481072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ESP32-CAM Module</a:t>
            </a:r>
            <a:endParaRPr lang="en-US" sz="115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5D8929E-4273-E4F2-3F85-324C102449FC}"/>
              </a:ext>
            </a:extLst>
          </p:cNvPr>
          <p:cNvSpPr/>
          <p:nvPr/>
        </p:nvSpPr>
        <p:spPr>
          <a:xfrm>
            <a:off x="457200" y="3102864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Arduino UNO</a:t>
            </a:r>
            <a:endParaRPr lang="en-US" sz="115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D383C297-F862-D510-7040-A2A999B0DB0E}"/>
              </a:ext>
            </a:extLst>
          </p:cNvPr>
          <p:cNvSpPr/>
          <p:nvPr/>
        </p:nvSpPr>
        <p:spPr>
          <a:xfrm>
            <a:off x="457200" y="3724656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DS3231 RTC Clock</a:t>
            </a:r>
            <a:endParaRPr lang="en-US" sz="11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E558AC17-22A2-AE45-FD49-D9D9D10A2015}"/>
              </a:ext>
            </a:extLst>
          </p:cNvPr>
          <p:cNvSpPr/>
          <p:nvPr/>
        </p:nvSpPr>
        <p:spPr>
          <a:xfrm>
            <a:off x="457200" y="4346448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Buzzer + Relay</a:t>
            </a:r>
            <a:endParaRPr lang="en-US" sz="115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F113C38-CB04-66CA-8E25-D620788782A7}"/>
              </a:ext>
            </a:extLst>
          </p:cNvPr>
          <p:cNvSpPr/>
          <p:nvPr/>
        </p:nvSpPr>
        <p:spPr>
          <a:xfrm>
            <a:off x="3346003" y="1264920"/>
            <a:ext cx="2650322" cy="38108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B7DA5D33-5DEF-757E-9FF1-1A62E0559765}"/>
              </a:ext>
            </a:extLst>
          </p:cNvPr>
          <p:cNvSpPr/>
          <p:nvPr/>
        </p:nvSpPr>
        <p:spPr>
          <a:xfrm>
            <a:off x="3337560" y="1264920"/>
            <a:ext cx="2658764" cy="48744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1363106-F9D4-7C04-8709-15ECC7CB6B2A}"/>
              </a:ext>
            </a:extLst>
          </p:cNvPr>
          <p:cNvSpPr/>
          <p:nvPr/>
        </p:nvSpPr>
        <p:spPr>
          <a:xfrm>
            <a:off x="3337560" y="1264920"/>
            <a:ext cx="2658764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LAYER</a:t>
            </a:r>
            <a:endParaRPr lang="en-US" sz="12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091A1B96-A787-DE89-1AFF-7AAFAE68952D}"/>
              </a:ext>
            </a:extLst>
          </p:cNvPr>
          <p:cNvSpPr/>
          <p:nvPr/>
        </p:nvSpPr>
        <p:spPr>
          <a:xfrm>
            <a:off x="3520440" y="1859280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YOLOv8 Detection</a:t>
            </a:r>
            <a:endParaRPr lang="en-US" sz="1150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1EBD58EA-D727-6FB0-4698-86340B59A70F}"/>
              </a:ext>
            </a:extLst>
          </p:cNvPr>
          <p:cNvSpPr/>
          <p:nvPr/>
        </p:nvSpPr>
        <p:spPr>
          <a:xfrm>
            <a:off x="3520440" y="2481072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Face Recognition</a:t>
            </a:r>
            <a:endParaRPr lang="en-US" sz="115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BE09482A-4389-A852-22BA-B5557F965220}"/>
              </a:ext>
            </a:extLst>
          </p:cNvPr>
          <p:cNvSpPr/>
          <p:nvPr/>
        </p:nvSpPr>
        <p:spPr>
          <a:xfrm>
            <a:off x="3520440" y="3102864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Tesseract OCR</a:t>
            </a:r>
            <a:endParaRPr lang="en-US" sz="115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93A6E2AE-CE4B-AF8F-0BA6-D012B8DF4D20}"/>
              </a:ext>
            </a:extLst>
          </p:cNvPr>
          <p:cNvSpPr/>
          <p:nvPr/>
        </p:nvSpPr>
        <p:spPr>
          <a:xfrm>
            <a:off x="3520440" y="3724656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Python AI Server</a:t>
            </a:r>
            <a:endParaRPr lang="en-US" sz="115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49B93090-B5D9-6803-0EB2-575BFEDFD0E2}"/>
              </a:ext>
            </a:extLst>
          </p:cNvPr>
          <p:cNvSpPr/>
          <p:nvPr/>
        </p:nvSpPr>
        <p:spPr>
          <a:xfrm>
            <a:off x="3520440" y="4346448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Event Classifier</a:t>
            </a:r>
            <a:endParaRPr lang="en-US" sz="115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9D7DD8AD-AF94-CAE4-E572-2CF7607A4AB3}"/>
              </a:ext>
            </a:extLst>
          </p:cNvPr>
          <p:cNvSpPr/>
          <p:nvPr/>
        </p:nvSpPr>
        <p:spPr>
          <a:xfrm>
            <a:off x="6492240" y="1264920"/>
            <a:ext cx="2527234" cy="38108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6B373DD3-B72D-DC8F-CF93-CCF0F08C337F}"/>
              </a:ext>
            </a:extLst>
          </p:cNvPr>
          <p:cNvSpPr/>
          <p:nvPr/>
        </p:nvSpPr>
        <p:spPr>
          <a:xfrm>
            <a:off x="6492240" y="1264920"/>
            <a:ext cx="2525825" cy="487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608F8547-F3B0-85C0-8601-0D2A175104C4}"/>
              </a:ext>
            </a:extLst>
          </p:cNvPr>
          <p:cNvSpPr/>
          <p:nvPr/>
        </p:nvSpPr>
        <p:spPr>
          <a:xfrm>
            <a:off x="6355080" y="1264920"/>
            <a:ext cx="2658764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LAYER</a:t>
            </a:r>
            <a:endParaRPr lang="en-US" sz="12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FB1C96A4-C946-7175-B994-9B8DA3ED3D82}"/>
              </a:ext>
            </a:extLst>
          </p:cNvPr>
          <p:cNvSpPr/>
          <p:nvPr/>
        </p:nvSpPr>
        <p:spPr>
          <a:xfrm>
            <a:off x="6537960" y="1859280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Django Dashboard</a:t>
            </a:r>
            <a:endParaRPr lang="en-US" sz="1150" dirty="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7C84B800-8711-A89E-1AB9-A862D9BCADE1}"/>
              </a:ext>
            </a:extLst>
          </p:cNvPr>
          <p:cNvSpPr/>
          <p:nvPr/>
        </p:nvSpPr>
        <p:spPr>
          <a:xfrm>
            <a:off x="6537960" y="2481072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SQLite Database</a:t>
            </a:r>
            <a:endParaRPr lang="en-US" sz="115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13108BC1-9783-648C-0AE6-B52C79AB101A}"/>
              </a:ext>
            </a:extLst>
          </p:cNvPr>
          <p:cNvSpPr/>
          <p:nvPr/>
        </p:nvSpPr>
        <p:spPr>
          <a:xfrm>
            <a:off x="6537960" y="3102864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Email Alerts</a:t>
            </a:r>
            <a:endParaRPr lang="en-US" sz="1150" dirty="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5D3E6D40-A17C-451D-4030-3F7E1C3582A3}"/>
              </a:ext>
            </a:extLst>
          </p:cNvPr>
          <p:cNvSpPr/>
          <p:nvPr/>
        </p:nvSpPr>
        <p:spPr>
          <a:xfrm>
            <a:off x="6537960" y="3724656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Telegram Bot</a:t>
            </a:r>
            <a:endParaRPr lang="en-US" sz="115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DE89EAAB-AF41-3594-E5BD-B0F222616B58}"/>
              </a:ext>
            </a:extLst>
          </p:cNvPr>
          <p:cNvSpPr/>
          <p:nvPr/>
        </p:nvSpPr>
        <p:spPr>
          <a:xfrm>
            <a:off x="6537960" y="4346448"/>
            <a:ext cx="2392887" cy="48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SMS Notifications</a:t>
            </a:r>
            <a:endParaRPr lang="en-US" sz="1150" dirty="0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2A33EF0F-B766-B1F9-E556-1A03C838289C}"/>
              </a:ext>
            </a:extLst>
          </p:cNvPr>
          <p:cNvSpPr/>
          <p:nvPr/>
        </p:nvSpPr>
        <p:spPr>
          <a:xfrm>
            <a:off x="2867074" y="2954495"/>
            <a:ext cx="531752" cy="265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E9B00"/>
                </a:solidFill>
              </a:rPr>
              <a:t>Wi-Fi</a:t>
            </a:r>
            <a:endParaRPr lang="en-US" sz="900" dirty="0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558C89CA-1F40-B7FA-2E79-3FED578ECE80}"/>
              </a:ext>
            </a:extLst>
          </p:cNvPr>
          <p:cNvSpPr/>
          <p:nvPr/>
        </p:nvSpPr>
        <p:spPr>
          <a:xfrm>
            <a:off x="5893644" y="2883098"/>
            <a:ext cx="633663" cy="265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E9B00"/>
                </a:solidFill>
              </a:rPr>
              <a:t>REST API</a:t>
            </a:r>
            <a:endParaRPr lang="en-US" sz="9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094DDD-C881-E8BE-E85E-79BD51FDE74F}"/>
              </a:ext>
            </a:extLst>
          </p:cNvPr>
          <p:cNvCxnSpPr/>
          <p:nvPr/>
        </p:nvCxnSpPr>
        <p:spPr>
          <a:xfrm>
            <a:off x="3011332" y="3220371"/>
            <a:ext cx="247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C7B980C-EE11-D23C-12C3-2812E77988BA}"/>
              </a:ext>
            </a:extLst>
          </p:cNvPr>
          <p:cNvCxnSpPr>
            <a:cxnSpLocks/>
          </p:cNvCxnSpPr>
          <p:nvPr/>
        </p:nvCxnSpPr>
        <p:spPr>
          <a:xfrm>
            <a:off x="6085490" y="3220371"/>
            <a:ext cx="2695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E8395-F4E2-BBFB-84C7-78EEE01C5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61802"/>
            <a:ext cx="7038900" cy="914100"/>
          </a:xfrm>
        </p:spPr>
        <p:txBody>
          <a:bodyPr/>
          <a:lstStyle/>
          <a:p>
            <a:r>
              <a:rPr lang="en-GB" dirty="0">
                <a:latin typeface=""/>
              </a:rPr>
              <a:t>Methodology</a:t>
            </a:r>
            <a:br>
              <a:rPr lang="en-GB" dirty="0">
                <a:latin typeface=""/>
              </a:rPr>
            </a:br>
            <a:br>
              <a:rPr lang="en-GB" sz="2000" dirty="0">
                <a:latin typeface=""/>
              </a:rPr>
            </a:br>
            <a:r>
              <a:rPr lang="en-US" sz="18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Components &amp; Their Roles</a:t>
            </a:r>
            <a:br>
              <a:rPr lang="en-US" sz="1800" dirty="0"/>
            </a:br>
            <a:endParaRPr lang="en-NP" sz="1800" dirty="0">
              <a:latin typeface=""/>
            </a:endParaRP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2DCAEE72-F8C5-A3B3-C8B8-D9B1294FB5CF}"/>
              </a:ext>
            </a:extLst>
          </p:cNvPr>
          <p:cNvSpPr/>
          <p:nvPr/>
        </p:nvSpPr>
        <p:spPr>
          <a:xfrm>
            <a:off x="274320" y="135878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0B15425C-8692-EC29-105E-D3907F5E25C7}"/>
              </a:ext>
            </a:extLst>
          </p:cNvPr>
          <p:cNvSpPr/>
          <p:nvPr/>
        </p:nvSpPr>
        <p:spPr>
          <a:xfrm>
            <a:off x="274320" y="1358782"/>
            <a:ext cx="2743200" cy="45720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F6940F59-1E50-7D89-72E8-17AE42A762AF}"/>
              </a:ext>
            </a:extLst>
          </p:cNvPr>
          <p:cNvSpPr/>
          <p:nvPr/>
        </p:nvSpPr>
        <p:spPr>
          <a:xfrm>
            <a:off x="365760" y="135878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ESP32-CAM</a:t>
            </a:r>
            <a:endParaRPr lang="en-US" sz="12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EA6B1679-B665-3B86-7333-1E57EF396E7C}"/>
              </a:ext>
            </a:extLst>
          </p:cNvPr>
          <p:cNvSpPr/>
          <p:nvPr/>
        </p:nvSpPr>
        <p:spPr>
          <a:xfrm>
            <a:off x="384048" y="186170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images &amp; streams video over Wi-Fi. The brain at the door.</a:t>
            </a:r>
            <a:endParaRPr lang="en-US" sz="11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F384A6A9-63FD-4CCD-0F6C-943E8FCB3E08}"/>
              </a:ext>
            </a:extLst>
          </p:cNvPr>
          <p:cNvSpPr/>
          <p:nvPr/>
        </p:nvSpPr>
        <p:spPr>
          <a:xfrm>
            <a:off x="3200400" y="135878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4A45C5B-A0AC-7584-4B32-9A6C751AA0FA}"/>
              </a:ext>
            </a:extLst>
          </p:cNvPr>
          <p:cNvSpPr/>
          <p:nvPr/>
        </p:nvSpPr>
        <p:spPr>
          <a:xfrm>
            <a:off x="3200400" y="1358782"/>
            <a:ext cx="2743200" cy="45720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E2EA68EA-74ED-2122-02FC-F41FC39AD83D}"/>
              </a:ext>
            </a:extLst>
          </p:cNvPr>
          <p:cNvSpPr/>
          <p:nvPr/>
        </p:nvSpPr>
        <p:spPr>
          <a:xfrm>
            <a:off x="3291840" y="135878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Arduino UNO</a:t>
            </a:r>
            <a:endParaRPr lang="en-US" sz="12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D276CFB7-B595-2C82-44A1-2C7E85F66DDB}"/>
              </a:ext>
            </a:extLst>
          </p:cNvPr>
          <p:cNvSpPr/>
          <p:nvPr/>
        </p:nvSpPr>
        <p:spPr>
          <a:xfrm>
            <a:off x="3310128" y="186170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PIR sensor, triggers the camera &amp; controls buzzer/relay.</a:t>
            </a:r>
            <a:endParaRPr lang="en-US" sz="11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DC554AF8-3190-52F1-A210-9568F74E8DFB}"/>
              </a:ext>
            </a:extLst>
          </p:cNvPr>
          <p:cNvSpPr/>
          <p:nvPr/>
        </p:nvSpPr>
        <p:spPr>
          <a:xfrm>
            <a:off x="6126480" y="135878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4850DBB2-D6CC-5F1B-1ED1-D8F2FAA81A51}"/>
              </a:ext>
            </a:extLst>
          </p:cNvPr>
          <p:cNvSpPr/>
          <p:nvPr/>
        </p:nvSpPr>
        <p:spPr>
          <a:xfrm>
            <a:off x="6126480" y="1358782"/>
            <a:ext cx="274320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76BBEB8D-6185-FCA5-65F6-417DBF49BD87}"/>
              </a:ext>
            </a:extLst>
          </p:cNvPr>
          <p:cNvSpPr/>
          <p:nvPr/>
        </p:nvSpPr>
        <p:spPr>
          <a:xfrm>
            <a:off x="6217920" y="135878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PIR Sensor</a:t>
            </a:r>
            <a:endParaRPr lang="en-US" sz="12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B418BB0C-B78F-9E6F-0090-CFBD42C1B373}"/>
              </a:ext>
            </a:extLst>
          </p:cNvPr>
          <p:cNvSpPr/>
          <p:nvPr/>
        </p:nvSpPr>
        <p:spPr>
          <a:xfrm>
            <a:off x="6236208" y="186170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human movement. Wakes the system only when someone is there.</a:t>
            </a:r>
            <a:endParaRPr lang="en-US" sz="110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95978290-1FBC-EBB5-CCE0-E1F138C53672}"/>
              </a:ext>
            </a:extLst>
          </p:cNvPr>
          <p:cNvSpPr/>
          <p:nvPr/>
        </p:nvSpPr>
        <p:spPr>
          <a:xfrm>
            <a:off x="274320" y="332474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3C5C9DD1-FEC1-E9A8-239F-0102768ADC94}"/>
              </a:ext>
            </a:extLst>
          </p:cNvPr>
          <p:cNvSpPr/>
          <p:nvPr/>
        </p:nvSpPr>
        <p:spPr>
          <a:xfrm>
            <a:off x="274320" y="3324742"/>
            <a:ext cx="2743200" cy="4572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D01B1EAA-DB55-4A80-14CB-5E2E77A2ECBC}"/>
              </a:ext>
            </a:extLst>
          </p:cNvPr>
          <p:cNvSpPr/>
          <p:nvPr/>
        </p:nvSpPr>
        <p:spPr>
          <a:xfrm>
            <a:off x="365760" y="332474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DS3231 RTC</a:t>
            </a:r>
            <a:endParaRPr lang="en-US" sz="120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9BD40968-1091-8ADD-506D-52680DDA7490}"/>
              </a:ext>
            </a:extLst>
          </p:cNvPr>
          <p:cNvSpPr/>
          <p:nvPr/>
        </p:nvSpPr>
        <p:spPr>
          <a:xfrm>
            <a:off x="384048" y="382766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accurate timestamps for every event, even without internet.</a:t>
            </a:r>
            <a:endParaRPr lang="en-US" sz="1100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A288D535-05AB-814D-BFF9-4AE4A5F2A996}"/>
              </a:ext>
            </a:extLst>
          </p:cNvPr>
          <p:cNvSpPr/>
          <p:nvPr/>
        </p:nvSpPr>
        <p:spPr>
          <a:xfrm>
            <a:off x="3200400" y="332474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44039E3E-19E1-21D5-B093-B1105824D5CE}"/>
              </a:ext>
            </a:extLst>
          </p:cNvPr>
          <p:cNvSpPr/>
          <p:nvPr/>
        </p:nvSpPr>
        <p:spPr>
          <a:xfrm>
            <a:off x="3200400" y="3324742"/>
            <a:ext cx="2743200" cy="457200"/>
          </a:xfrm>
          <a:prstGeom prst="rect">
            <a:avLst/>
          </a:prstGeom>
          <a:solidFill>
            <a:srgbClr val="AE2012"/>
          </a:solidFill>
          <a:ln/>
        </p:spPr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9AF439B8-F262-E4C7-AEAB-510E4DE3E342}"/>
              </a:ext>
            </a:extLst>
          </p:cNvPr>
          <p:cNvSpPr/>
          <p:nvPr/>
        </p:nvSpPr>
        <p:spPr>
          <a:xfrm>
            <a:off x="3291840" y="332474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Relay + Buzzer</a:t>
            </a:r>
            <a:endParaRPr lang="en-US" sz="1200" dirty="0"/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33B5CB5F-7C1B-98B7-E01C-B06269AE77C7}"/>
              </a:ext>
            </a:extLst>
          </p:cNvPr>
          <p:cNvSpPr/>
          <p:nvPr/>
        </p:nvSpPr>
        <p:spPr>
          <a:xfrm>
            <a:off x="3310128" y="382766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local alarm and can control door locks physically.</a:t>
            </a:r>
            <a:endParaRPr lang="en-US" sz="1100" dirty="0"/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4A1DD5F4-223F-CBA9-3D65-0B368BE8E003}"/>
              </a:ext>
            </a:extLst>
          </p:cNvPr>
          <p:cNvSpPr/>
          <p:nvPr/>
        </p:nvSpPr>
        <p:spPr>
          <a:xfrm>
            <a:off x="6126480" y="332474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23">
            <a:extLst>
              <a:ext uri="{FF2B5EF4-FFF2-40B4-BE49-F238E27FC236}">
                <a16:creationId xmlns:a16="http://schemas.microsoft.com/office/drawing/2014/main" id="{B75A0B21-C822-4D53-6FCE-5E346973F3C8}"/>
              </a:ext>
            </a:extLst>
          </p:cNvPr>
          <p:cNvSpPr/>
          <p:nvPr/>
        </p:nvSpPr>
        <p:spPr>
          <a:xfrm>
            <a:off x="6126480" y="3324742"/>
            <a:ext cx="2743200" cy="4572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D1E8A500-8E0E-8BEE-ABBE-0B290034E62E}"/>
              </a:ext>
            </a:extLst>
          </p:cNvPr>
          <p:cNvSpPr/>
          <p:nvPr/>
        </p:nvSpPr>
        <p:spPr>
          <a:xfrm>
            <a:off x="6217920" y="332474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Laptop/PC</a:t>
            </a:r>
            <a:endParaRPr lang="en-US" sz="1200" dirty="0"/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D88330E3-94FD-359C-89EA-D722E16B8418}"/>
              </a:ext>
            </a:extLst>
          </p:cNvPr>
          <p:cNvSpPr/>
          <p:nvPr/>
        </p:nvSpPr>
        <p:spPr>
          <a:xfrm>
            <a:off x="6236208" y="382766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AI models (YOLOv8, OCR) and hosts the Django web dashboard.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03496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77997-BEE4-F5F9-953D-AD5B3A42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17" y="207700"/>
            <a:ext cx="7038900" cy="914100"/>
          </a:xfrm>
        </p:spPr>
        <p:txBody>
          <a:bodyPr/>
          <a:lstStyle/>
          <a:p>
            <a:r>
              <a:rPr lang="en-GB" dirty="0">
                <a:latin typeface=""/>
              </a:rPr>
              <a:t>Methodology</a:t>
            </a:r>
            <a:br>
              <a:rPr lang="en-GB" dirty="0">
                <a:latin typeface=""/>
              </a:rPr>
            </a:br>
            <a:br>
              <a:rPr lang="en-GB" sz="1400" dirty="0">
                <a:latin typeface=""/>
              </a:rPr>
            </a:br>
            <a:r>
              <a:rPr lang="en-US" sz="1800" dirty="0">
                <a:solidFill>
                  <a:srgbClr val="000000"/>
                </a:solidFill>
                <a:latin typeface=""/>
              </a:rPr>
              <a:t>AI Pipeline &amp; Key Algorithms</a:t>
            </a:r>
            <a:endParaRPr lang="en-NP" sz="1800" dirty="0">
              <a:latin typeface="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3683CF-EDE8-FD17-0FE3-16D991F66BDE}"/>
              </a:ext>
            </a:extLst>
          </p:cNvPr>
          <p:cNvSpPr/>
          <p:nvPr/>
        </p:nvSpPr>
        <p:spPr>
          <a:xfrm>
            <a:off x="548640" y="1297890"/>
            <a:ext cx="731520" cy="731520"/>
          </a:xfrm>
          <a:prstGeom prst="ellipse">
            <a:avLst/>
          </a:prstGeom>
          <a:noFill/>
          <a:ln w="12700">
            <a:noFill/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9BBD49-E621-F986-5612-C6F3B2D39BCA}"/>
              </a:ext>
            </a:extLst>
          </p:cNvPr>
          <p:cNvSpPr/>
          <p:nvPr/>
        </p:nvSpPr>
        <p:spPr>
          <a:xfrm>
            <a:off x="548640" y="129789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1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2CDCCA-59A9-0AD2-D4B6-E8EF103205F5}"/>
              </a:ext>
            </a:extLst>
          </p:cNvPr>
          <p:cNvSpPr/>
          <p:nvPr/>
        </p:nvSpPr>
        <p:spPr>
          <a:xfrm>
            <a:off x="1417320" y="138933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→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5C4CFF5-85BF-155E-536C-DE8E1E1542CE}"/>
              </a:ext>
            </a:extLst>
          </p:cNvPr>
          <p:cNvSpPr/>
          <p:nvPr/>
        </p:nvSpPr>
        <p:spPr>
          <a:xfrm>
            <a:off x="228600" y="2166570"/>
            <a:ext cx="1371600" cy="777240"/>
          </a:xfrm>
          <a:prstGeom prst="rect">
            <a:avLst/>
          </a:prstGeom>
          <a:noFill/>
          <a:ln w="12700">
            <a:noFill/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CAA999A-0D0D-22EE-54DC-F9F71434938E}"/>
              </a:ext>
            </a:extLst>
          </p:cNvPr>
          <p:cNvSpPr/>
          <p:nvPr/>
        </p:nvSpPr>
        <p:spPr>
          <a:xfrm>
            <a:off x="274320" y="221229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Motion Trigger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BE2D9A8-7A92-6446-5112-929A324A4485}"/>
              </a:ext>
            </a:extLst>
          </p:cNvPr>
          <p:cNvSpPr/>
          <p:nvPr/>
        </p:nvSpPr>
        <p:spPr>
          <a:xfrm>
            <a:off x="274320" y="25323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PIR → Arduino → ESP32-CAM wake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F4B33EE-5DD9-DA06-DE06-6834425335E0}"/>
              </a:ext>
            </a:extLst>
          </p:cNvPr>
          <p:cNvSpPr/>
          <p:nvPr/>
        </p:nvSpPr>
        <p:spPr>
          <a:xfrm>
            <a:off x="2029968" y="1297890"/>
            <a:ext cx="731520" cy="731520"/>
          </a:xfrm>
          <a:prstGeom prst="ellipse">
            <a:avLst/>
          </a:prstGeom>
          <a:noFill/>
          <a:ln w="12700">
            <a:noFill/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7682E60-21B6-9CC0-D5AC-3BE733BED76C}"/>
              </a:ext>
            </a:extLst>
          </p:cNvPr>
          <p:cNvSpPr/>
          <p:nvPr/>
        </p:nvSpPr>
        <p:spPr>
          <a:xfrm>
            <a:off x="2029968" y="129789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2</a:t>
            </a:r>
            <a:endParaRPr lang="en-US" sz="1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D444A1B-947D-4C9A-68EF-B478B47A9058}"/>
              </a:ext>
            </a:extLst>
          </p:cNvPr>
          <p:cNvSpPr/>
          <p:nvPr/>
        </p:nvSpPr>
        <p:spPr>
          <a:xfrm>
            <a:off x="2898648" y="138933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→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08E2A0D-0E87-8189-BA63-57C634D05627}"/>
              </a:ext>
            </a:extLst>
          </p:cNvPr>
          <p:cNvSpPr/>
          <p:nvPr/>
        </p:nvSpPr>
        <p:spPr>
          <a:xfrm>
            <a:off x="1709928" y="2166570"/>
            <a:ext cx="1371600" cy="777240"/>
          </a:xfrm>
          <a:prstGeom prst="rect">
            <a:avLst/>
          </a:prstGeom>
          <a:noFill/>
          <a:ln w="12700">
            <a:noFill/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9B9722F-AEAA-CC00-AE92-9B2DDF5C12F0}"/>
              </a:ext>
            </a:extLst>
          </p:cNvPr>
          <p:cNvSpPr/>
          <p:nvPr/>
        </p:nvSpPr>
        <p:spPr>
          <a:xfrm>
            <a:off x="1755648" y="221229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Image Capture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9A147E7-DB5B-DEF8-4930-CE5E2824BDEA}"/>
              </a:ext>
            </a:extLst>
          </p:cNvPr>
          <p:cNvSpPr/>
          <p:nvPr/>
        </p:nvSpPr>
        <p:spPr>
          <a:xfrm>
            <a:off x="1755648" y="25323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JPEG + RTC timestamp → HTTP POST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9C118CD-5A3A-6731-BE28-85A1E3E3D696}"/>
              </a:ext>
            </a:extLst>
          </p:cNvPr>
          <p:cNvSpPr/>
          <p:nvPr/>
        </p:nvSpPr>
        <p:spPr>
          <a:xfrm>
            <a:off x="3511296" y="1297890"/>
            <a:ext cx="731520" cy="731520"/>
          </a:xfrm>
          <a:prstGeom prst="ellipse">
            <a:avLst/>
          </a:prstGeom>
          <a:noFill/>
          <a:ln w="12700">
            <a:noFill/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312C145-EBFE-9639-87F0-8FFF41754239}"/>
              </a:ext>
            </a:extLst>
          </p:cNvPr>
          <p:cNvSpPr/>
          <p:nvPr/>
        </p:nvSpPr>
        <p:spPr>
          <a:xfrm>
            <a:off x="3511296" y="129789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3</a:t>
            </a:r>
            <a:endParaRPr lang="en-US" sz="1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1209F8D-CB28-4D08-1D09-9CD2D2BF277B}"/>
              </a:ext>
            </a:extLst>
          </p:cNvPr>
          <p:cNvSpPr/>
          <p:nvPr/>
        </p:nvSpPr>
        <p:spPr>
          <a:xfrm>
            <a:off x="4379976" y="138933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→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F215D4A-6088-43EA-E041-BE35373E85D2}"/>
              </a:ext>
            </a:extLst>
          </p:cNvPr>
          <p:cNvSpPr/>
          <p:nvPr/>
        </p:nvSpPr>
        <p:spPr>
          <a:xfrm>
            <a:off x="3191256" y="2166570"/>
            <a:ext cx="1371600" cy="777240"/>
          </a:xfrm>
          <a:prstGeom prst="rect">
            <a:avLst/>
          </a:prstGeom>
          <a:noFill/>
          <a:ln w="12700">
            <a:noFill/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B905936-22C1-1B5E-39AC-4339C26183E9}"/>
              </a:ext>
            </a:extLst>
          </p:cNvPr>
          <p:cNvSpPr/>
          <p:nvPr/>
        </p:nvSpPr>
        <p:spPr>
          <a:xfrm>
            <a:off x="3236976" y="221229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YOLOv8 Detect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F9C6D97-E638-86B1-BEB6-D4B2010010B2}"/>
              </a:ext>
            </a:extLst>
          </p:cNvPr>
          <p:cNvSpPr/>
          <p:nvPr/>
        </p:nvSpPr>
        <p:spPr>
          <a:xfrm>
            <a:off x="3236976" y="25323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Person / weapon / mask / card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DA2276D-A28B-AB60-8EDB-D238520CE61C}"/>
              </a:ext>
            </a:extLst>
          </p:cNvPr>
          <p:cNvSpPr/>
          <p:nvPr/>
        </p:nvSpPr>
        <p:spPr>
          <a:xfrm>
            <a:off x="4992624" y="1297890"/>
            <a:ext cx="731520" cy="731520"/>
          </a:xfrm>
          <a:prstGeom prst="ellipse">
            <a:avLst/>
          </a:prstGeom>
          <a:noFill/>
          <a:ln w="12700">
            <a:noFill/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E6BDBC5-5FF7-3BFF-AE60-476D2F458FFF}"/>
              </a:ext>
            </a:extLst>
          </p:cNvPr>
          <p:cNvSpPr/>
          <p:nvPr/>
        </p:nvSpPr>
        <p:spPr>
          <a:xfrm>
            <a:off x="4992624" y="129789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4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62F42D7-AD00-1A66-A890-E4B209E91839}"/>
              </a:ext>
            </a:extLst>
          </p:cNvPr>
          <p:cNvSpPr/>
          <p:nvPr/>
        </p:nvSpPr>
        <p:spPr>
          <a:xfrm>
            <a:off x="5861304" y="138933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→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B2C6B8A-9C79-8D82-7C17-736D29DE6F0A}"/>
              </a:ext>
            </a:extLst>
          </p:cNvPr>
          <p:cNvSpPr/>
          <p:nvPr/>
        </p:nvSpPr>
        <p:spPr>
          <a:xfrm>
            <a:off x="4672584" y="2166570"/>
            <a:ext cx="1371600" cy="777240"/>
          </a:xfrm>
          <a:prstGeom prst="rect">
            <a:avLst/>
          </a:prstGeom>
          <a:noFill/>
          <a:ln w="12700">
            <a:noFill/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B5A2FE6-8425-81E1-9A96-792071D3BB4C}"/>
              </a:ext>
            </a:extLst>
          </p:cNvPr>
          <p:cNvSpPr/>
          <p:nvPr/>
        </p:nvSpPr>
        <p:spPr>
          <a:xfrm>
            <a:off x="4718304" y="221229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Face Recog.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00A4F25-2260-5F0E-0415-8C82F88C7D2E}"/>
              </a:ext>
            </a:extLst>
          </p:cNvPr>
          <p:cNvSpPr/>
          <p:nvPr/>
        </p:nvSpPr>
        <p:spPr>
          <a:xfrm>
            <a:off x="4718304" y="25323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Dlib encoding → DB match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936DD83-C142-5227-81CC-5E29A84085DA}"/>
              </a:ext>
            </a:extLst>
          </p:cNvPr>
          <p:cNvSpPr/>
          <p:nvPr/>
        </p:nvSpPr>
        <p:spPr>
          <a:xfrm>
            <a:off x="6473952" y="1297890"/>
            <a:ext cx="731520" cy="731520"/>
          </a:xfrm>
          <a:prstGeom prst="ellipse">
            <a:avLst/>
          </a:prstGeom>
          <a:noFill/>
          <a:ln w="12700">
            <a:noFill/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FA1F812-88A2-30F9-086A-6DC5EAF06144}"/>
              </a:ext>
            </a:extLst>
          </p:cNvPr>
          <p:cNvSpPr/>
          <p:nvPr/>
        </p:nvSpPr>
        <p:spPr>
          <a:xfrm>
            <a:off x="6473952" y="129789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5</a:t>
            </a:r>
            <a:endParaRPr lang="en-US" sz="18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8A975F9-DF33-72E6-8EB1-EF00C07DC42A}"/>
              </a:ext>
            </a:extLst>
          </p:cNvPr>
          <p:cNvSpPr/>
          <p:nvPr/>
        </p:nvSpPr>
        <p:spPr>
          <a:xfrm>
            <a:off x="7342632" y="138933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→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1820A8F-C41B-C778-74E1-3CA9390156DF}"/>
              </a:ext>
            </a:extLst>
          </p:cNvPr>
          <p:cNvSpPr/>
          <p:nvPr/>
        </p:nvSpPr>
        <p:spPr>
          <a:xfrm>
            <a:off x="6153912" y="2166570"/>
            <a:ext cx="1371600" cy="777240"/>
          </a:xfrm>
          <a:prstGeom prst="rect">
            <a:avLst/>
          </a:prstGeom>
          <a:noFill/>
          <a:ln w="12700">
            <a:noFill/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9C6F623-15D1-C2B5-B543-42A927708942}"/>
              </a:ext>
            </a:extLst>
          </p:cNvPr>
          <p:cNvSpPr/>
          <p:nvPr/>
        </p:nvSpPr>
        <p:spPr>
          <a:xfrm>
            <a:off x="6199632" y="221229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OCR Scan</a:t>
            </a:r>
            <a:endParaRPr lang="en-US" sz="10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A49FB9E-E727-FB3F-9918-830BC4F4F9FF}"/>
              </a:ext>
            </a:extLst>
          </p:cNvPr>
          <p:cNvSpPr/>
          <p:nvPr/>
        </p:nvSpPr>
        <p:spPr>
          <a:xfrm>
            <a:off x="6199632" y="25323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Tesseract reads banner keywords</a:t>
            </a: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1F5D38F-502A-F6A6-9DE6-5F0C4857E77F}"/>
              </a:ext>
            </a:extLst>
          </p:cNvPr>
          <p:cNvSpPr/>
          <p:nvPr/>
        </p:nvSpPr>
        <p:spPr>
          <a:xfrm>
            <a:off x="7955280" y="1297890"/>
            <a:ext cx="731520" cy="731520"/>
          </a:xfrm>
          <a:prstGeom prst="ellipse">
            <a:avLst/>
          </a:prstGeom>
          <a:noFill/>
          <a:ln w="12700">
            <a:noFill/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7860A9B-7106-AC2D-7EAD-E4D83C046588}"/>
              </a:ext>
            </a:extLst>
          </p:cNvPr>
          <p:cNvSpPr/>
          <p:nvPr/>
        </p:nvSpPr>
        <p:spPr>
          <a:xfrm>
            <a:off x="7955280" y="129789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76F6E17-25AC-ACDF-E5CE-A73C9B301B40}"/>
              </a:ext>
            </a:extLst>
          </p:cNvPr>
          <p:cNvSpPr/>
          <p:nvPr/>
        </p:nvSpPr>
        <p:spPr>
          <a:xfrm>
            <a:off x="7635240" y="2166570"/>
            <a:ext cx="1371600" cy="777240"/>
          </a:xfrm>
          <a:prstGeom prst="rect">
            <a:avLst/>
          </a:prstGeom>
          <a:noFill/>
          <a:ln w="12700">
            <a:noFill/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6071FE1-A398-7F79-3E10-A17DB9A35E0E}"/>
              </a:ext>
            </a:extLst>
          </p:cNvPr>
          <p:cNvSpPr/>
          <p:nvPr/>
        </p:nvSpPr>
        <p:spPr>
          <a:xfrm>
            <a:off x="7680960" y="221229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Decision</a:t>
            </a:r>
            <a:endParaRPr lang="en-US" sz="10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A45A724-FE1E-0E5F-7FE7-6DD2753B7447}"/>
              </a:ext>
            </a:extLst>
          </p:cNvPr>
          <p:cNvSpPr/>
          <p:nvPr/>
        </p:nvSpPr>
        <p:spPr>
          <a:xfrm>
            <a:off x="7680960" y="25323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Priority alert dispatched</a:t>
            </a:r>
            <a:endParaRPr lang="en-US" sz="9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3E6AEC-B784-4B12-74F5-B4F055A1A819}"/>
              </a:ext>
            </a:extLst>
          </p:cNvPr>
          <p:cNvSpPr txBox="1"/>
          <p:nvPr/>
        </p:nvSpPr>
        <p:spPr>
          <a:xfrm>
            <a:off x="284056" y="3265157"/>
            <a:ext cx="3491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"/>
              </a:rPr>
              <a:t>Entry/Exit Detection (IR Sequence)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C058F7-03F6-F42A-121B-689AA8679794}"/>
              </a:ext>
            </a:extLst>
          </p:cNvPr>
          <p:cNvSpPr txBox="1"/>
          <p:nvPr/>
        </p:nvSpPr>
        <p:spPr>
          <a:xfrm>
            <a:off x="5410708" y="3265157"/>
            <a:ext cx="2858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"/>
              </a:rPr>
              <a:t>Alert Channels &amp; Use Cases</a:t>
            </a:r>
            <a:endParaRPr lang="en-US" sz="1600" dirty="0">
              <a:latin typeface="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B3D75C7-FBC3-09BF-F7B2-9F88064BAB84}"/>
              </a:ext>
            </a:extLst>
          </p:cNvPr>
          <p:cNvSpPr/>
          <p:nvPr/>
        </p:nvSpPr>
        <p:spPr>
          <a:xfrm>
            <a:off x="327117" y="3362087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"/>
              </a:rPr>
              <a:t>• IR1 before IR2  →  ENTRY</a:t>
            </a:r>
            <a:endParaRPr lang="en-US" sz="1100" dirty="0">
              <a:latin typeface="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"/>
              </a:rPr>
              <a:t>• IR2 before IR1  →  EXIT</a:t>
            </a:r>
            <a:endParaRPr lang="en-US" sz="1100" dirty="0">
              <a:latin typeface="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"/>
              </a:rPr>
              <a:t>• Re-entry &lt; 3s   →  SUSPICIOUS (siren)</a:t>
            </a:r>
            <a:endParaRPr lang="en-US" sz="1100" dirty="0">
              <a:latin typeface="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"/>
              </a:rPr>
              <a:t>• Night mode: PIR active only after 20:00</a:t>
            </a:r>
            <a:endParaRPr lang="en-US" sz="1100" dirty="0">
              <a:latin typeface=""/>
            </a:endParaRPr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5970125E-6CE5-D909-4D8D-3654AA06CEF3}"/>
              </a:ext>
            </a:extLst>
          </p:cNvPr>
          <p:cNvSpPr/>
          <p:nvPr/>
        </p:nvSpPr>
        <p:spPr>
          <a:xfrm>
            <a:off x="5422392" y="3362087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"/>
              </a:rPr>
              <a:t>• SMS  →  critical emergencies only</a:t>
            </a:r>
            <a:endParaRPr lang="en-US" sz="1100" dirty="0">
              <a:latin typeface="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"/>
              </a:rPr>
              <a:t>• Telegram  →  all detection events</a:t>
            </a:r>
            <a:endParaRPr lang="en-US" sz="1100" dirty="0">
              <a:latin typeface="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"/>
              </a:rPr>
              <a:t>• Email  →  detailed event reports</a:t>
            </a:r>
            <a:endParaRPr lang="en-US" sz="1100" dirty="0">
              <a:latin typeface="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"/>
              </a:rPr>
              <a:t>• Buzzer  →  local physical alarm</a:t>
            </a:r>
            <a:endParaRPr lang="en-US" sz="1100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943384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/>
        </p:nvSpPr>
        <p:spPr>
          <a:xfrm>
            <a:off x="862550" y="319527"/>
            <a:ext cx="69216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Lato"/>
                <a:ea typeface="Lato"/>
                <a:cs typeface="Lato"/>
                <a:sym typeface="Lato"/>
              </a:rPr>
              <a:t>Methodology</a:t>
            </a:r>
            <a:endParaRPr sz="24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" name="Google Shape;297;p26"/>
          <p:cNvSpPr txBox="1"/>
          <p:nvPr/>
        </p:nvSpPr>
        <p:spPr>
          <a:xfrm>
            <a:off x="862550" y="1026575"/>
            <a:ext cx="73659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latin typeface=""/>
              </a:rPr>
              <a:t> </a:t>
            </a:r>
            <a:endParaRPr sz="1100" dirty="0">
              <a:latin typeface="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688B"/>
              </a:buClr>
              <a:buSzPts val="1100"/>
              <a:buChar char="●"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BB4267-548E-5A50-627B-2E859F6F9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23" y="0"/>
            <a:ext cx="861555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 txBox="1"/>
          <p:nvPr/>
        </p:nvSpPr>
        <p:spPr>
          <a:xfrm>
            <a:off x="846675" y="455075"/>
            <a:ext cx="2005940" cy="67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Lato"/>
                <a:ea typeface="Lato"/>
                <a:cs typeface="Lato"/>
                <a:sym typeface="Lato"/>
              </a:rPr>
              <a:t>Methodology</a:t>
            </a:r>
            <a:endParaRPr sz="24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27"/>
          <p:cNvSpPr txBox="1"/>
          <p:nvPr/>
        </p:nvSpPr>
        <p:spPr>
          <a:xfrm>
            <a:off x="928650" y="1323025"/>
            <a:ext cx="7286700" cy="3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latin typeface=""/>
              </a:rPr>
              <a:t> </a:t>
            </a:r>
            <a:endParaRPr sz="1300" dirty="0">
              <a:latin typeface=""/>
              <a:ea typeface="Lato"/>
              <a:cs typeface="Lato"/>
              <a:sym typeface="La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1ADF0D-9C5D-17BD-79E8-BEB1E7208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421" y="1263202"/>
            <a:ext cx="5220429" cy="31722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/>
          <p:nvPr/>
        </p:nvSpPr>
        <p:spPr>
          <a:xfrm>
            <a:off x="1156272" y="312280"/>
            <a:ext cx="3415727" cy="672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Lato"/>
                <a:ea typeface="Lato"/>
                <a:cs typeface="Lato"/>
                <a:sym typeface="Lato"/>
              </a:rPr>
              <a:t>Expected Outcome</a:t>
            </a:r>
            <a:endParaRPr sz="24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" name="Google Shape;309;p28"/>
          <p:cNvSpPr txBox="1"/>
          <p:nvPr/>
        </p:nvSpPr>
        <p:spPr>
          <a:xfrm>
            <a:off x="1156273" y="984738"/>
            <a:ext cx="6714000" cy="3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>
                <a:latin typeface=""/>
              </a:rPr>
              <a:t>The expected operational result is a working prototype capable of monitoring one controlled doorway under indoor lighting with moderate traffic. The following outcomes are anticipated:</a:t>
            </a:r>
          </a:p>
          <a:p>
            <a:endParaRPr lang="en-US" sz="1600" dirty="0">
              <a:latin typeface=""/>
            </a:endParaRPr>
          </a:p>
          <a:p>
            <a:pPr lvl="0">
              <a:lnSpc>
                <a:spcPct val="150000"/>
              </a:lnSpc>
            </a:pPr>
            <a:r>
              <a:rPr lang="en-US" sz="1300" dirty="0">
                <a:latin typeface=""/>
              </a:rPr>
              <a:t>1.Automatic entry and exit logging for authorized students.</a:t>
            </a:r>
          </a:p>
          <a:p>
            <a:pPr lvl="0">
              <a:lnSpc>
                <a:spcPct val="150000"/>
              </a:lnSpc>
            </a:pPr>
            <a:r>
              <a:rPr lang="en-US" sz="1300" dirty="0">
                <a:latin typeface=""/>
              </a:rPr>
              <a:t>2.Accurate timestamping of events using RTC-backed time records.</a:t>
            </a:r>
          </a:p>
          <a:p>
            <a:pPr lvl="0">
              <a:lnSpc>
                <a:spcPct val="150000"/>
              </a:lnSpc>
            </a:pPr>
            <a:r>
              <a:rPr lang="en-US" sz="1300" dirty="0">
                <a:latin typeface=""/>
              </a:rPr>
              <a:t>3.Near real-time notifications for unknown or unverified persons.</a:t>
            </a:r>
          </a:p>
          <a:p>
            <a:pPr lvl="0">
              <a:lnSpc>
                <a:spcPct val="150000"/>
              </a:lnSpc>
            </a:pPr>
            <a:r>
              <a:rPr lang="en-US" sz="1300" dirty="0">
                <a:latin typeface=""/>
              </a:rPr>
              <a:t>4.Improved campus security through image evidence and database-    backed logging.</a:t>
            </a:r>
          </a:p>
          <a:p>
            <a:pPr lvl="0">
              <a:lnSpc>
                <a:spcPct val="150000"/>
              </a:lnSpc>
            </a:pPr>
            <a:r>
              <a:rPr lang="en-US" sz="1300" dirty="0">
                <a:latin typeface=""/>
              </a:rPr>
              <a:t>5.Reduced manual attendance effort at monitored doors.</a:t>
            </a:r>
          </a:p>
          <a:p>
            <a:pPr lvl="0">
              <a:lnSpc>
                <a:spcPct val="150000"/>
              </a:lnSpc>
            </a:pPr>
            <a:r>
              <a:rPr lang="en-US" sz="1300" dirty="0">
                <a:latin typeface=""/>
              </a:rPr>
              <a:t>6.A reusable academic platform for future smart campus research</a:t>
            </a:r>
            <a:r>
              <a:rPr lang="en-US" sz="1600" dirty="0">
                <a:latin typeface=""/>
              </a:rPr>
              <a:t>.</a:t>
            </a:r>
          </a:p>
          <a:p>
            <a:r>
              <a:rPr lang="en-US" dirty="0"/>
              <a:t> 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ED832-3D44-D162-5F02-2E42215AD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1333073"/>
            <a:ext cx="6596038" cy="2189949"/>
          </a:xfrm>
        </p:spPr>
        <p:txBody>
          <a:bodyPr/>
          <a:lstStyle/>
          <a:p>
            <a:r>
              <a:rPr lang="en-US" dirty="0">
                <a:latin typeface=""/>
              </a:rPr>
              <a:t>System performance will depend on camera placement, ID-card visibility, network strength, and OCR quality. In practice, multiple test iterations will be required to tune sensor spacing, image framing, and OCR preprocessing parameters.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EF0B33-8280-1014-5C61-8C63CD372761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297500" y="537644"/>
            <a:ext cx="3005700" cy="510900"/>
          </a:xfrm>
        </p:spPr>
        <p:txBody>
          <a:bodyPr/>
          <a:lstStyle/>
          <a:p>
            <a:r>
              <a:rPr lang="en-US" sz="2400" dirty="0">
                <a:latin typeface="Lato"/>
                <a:ea typeface="Lato"/>
                <a:cs typeface="Lato"/>
                <a:sym typeface="Lato"/>
              </a:rPr>
              <a:t>Expected Outcome</a:t>
            </a:r>
            <a:endParaRPr lang="en-US" sz="2400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088584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 txBox="1">
            <a:spLocks noGrp="1"/>
          </p:cNvSpPr>
          <p:nvPr>
            <p:ph type="title"/>
          </p:nvPr>
        </p:nvSpPr>
        <p:spPr>
          <a:xfrm>
            <a:off x="1188195" y="404803"/>
            <a:ext cx="3732600" cy="5950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"/>
              </a:rPr>
              <a:t>Cost estimation</a:t>
            </a:r>
            <a:endParaRPr sz="2400" dirty="0">
              <a:latin typeface="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133" y="1195685"/>
            <a:ext cx="5679841" cy="354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"/>
          <p:cNvSpPr txBox="1"/>
          <p:nvPr/>
        </p:nvSpPr>
        <p:spPr>
          <a:xfrm>
            <a:off x="493964" y="529313"/>
            <a:ext cx="2036444" cy="55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Lato"/>
                <a:ea typeface="Lato"/>
                <a:cs typeface="Lato"/>
                <a:sym typeface="Lato"/>
              </a:rPr>
              <a:t>Gantt Chart</a:t>
            </a:r>
            <a:endParaRPr sz="2400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22" name="Google Shape;32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829" y="1409812"/>
            <a:ext cx="8432342" cy="2815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/>
          <p:nvPr/>
        </p:nvSpPr>
        <p:spPr>
          <a:xfrm>
            <a:off x="2469864" y="2133772"/>
            <a:ext cx="4360782" cy="1367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>
                <a:latin typeface="Lato"/>
                <a:ea typeface="Lato"/>
                <a:cs typeface="Lato"/>
                <a:sym typeface="Lato"/>
              </a:rPr>
              <a:t>THANK</a:t>
            </a:r>
            <a:r>
              <a:rPr lang="en-GB" sz="48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4800" dirty="0">
                <a:latin typeface="Lato"/>
                <a:ea typeface="Lato"/>
                <a:cs typeface="Lato"/>
                <a:sym typeface="Lato"/>
              </a:rPr>
              <a:t>YOU !</a:t>
            </a:r>
            <a:endParaRPr sz="4800" dirty="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1073</Words>
  <Application>Microsoft Macintosh PowerPoint</Application>
  <PresentationFormat>On-screen Show (16:9)</PresentationFormat>
  <Paragraphs>150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Aptos Display</vt:lpstr>
      <vt:lpstr>Lato</vt:lpstr>
      <vt:lpstr>Aptos</vt:lpstr>
      <vt:lpstr>Calibri</vt:lpstr>
      <vt:lpstr>Times New Roman</vt:lpstr>
      <vt:lpstr>Trebuchet MS</vt:lpstr>
      <vt:lpstr>Wingdings</vt:lpstr>
      <vt:lpstr>Office Theme</vt:lpstr>
      <vt:lpstr>TRIBHUVAN UNIVERSITY ​ INSTITUTE OF ENGINEERING  KATHMANDU ENGINEERING COLLEGE  KALIMATI, KATHMANDU   </vt:lpstr>
      <vt:lpstr>Agenda</vt:lpstr>
      <vt:lpstr>Introduction</vt:lpstr>
      <vt:lpstr>Background Theory</vt:lpstr>
      <vt:lpstr>Background Theory</vt:lpstr>
      <vt:lpstr>Problem statement</vt:lpstr>
      <vt:lpstr>PowerPoint Presentation</vt:lpstr>
      <vt:lpstr>PowerPoint Presentation</vt:lpstr>
      <vt:lpstr>Methodology  How It All Connects — System Architecture </vt:lpstr>
      <vt:lpstr>Methodology  Hardware Components &amp; Their Roles </vt:lpstr>
      <vt:lpstr>Methodology  AI Pipeline &amp; Key Algorithms</vt:lpstr>
      <vt:lpstr>PowerPoint Presentation</vt:lpstr>
      <vt:lpstr>PowerPoint Presentation</vt:lpstr>
      <vt:lpstr>PowerPoint Presentation</vt:lpstr>
      <vt:lpstr>System performance will depend on camera placement, ID-card visibility, network strength, and OCR quality. In practice, multiple test iterations will be required to tune sensor spacing, image framing, and OCR preprocessing parameters.  </vt:lpstr>
      <vt:lpstr>Cost estimation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TES</dc:creator>
  <cp:lastModifiedBy>Anubhav Jung Kunwar</cp:lastModifiedBy>
  <cp:revision>11</cp:revision>
  <dcterms:modified xsi:type="dcterms:W3CDTF">2026-06-03T05:05:42Z</dcterms:modified>
</cp:coreProperties>
</file>